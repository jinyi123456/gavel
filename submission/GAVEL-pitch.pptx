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19"/>
    <p:sldId id="263" r:id="rId9"/>
    <p:sldId id="264" r:id="rId10"/>
    <p:sldId id="265" r:id="rId11"/>
    <p:sldId id="274" r:id="rId15"/>
    <p:sldId id="270" r:id="rId16"/>
    <p:sldId id="271" r:id="rId17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9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0:00–0:08 — GAVEL. Every scam gets a fair trial. The AI investigates; you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0:08–0:33 — Scams are won in moments of decision. Detectors return a score; we hand the person a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0:33–0:58 — One metaphor: exhibits, prosecutor, defence, clerk — and the gavel stays with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0:58–1:18 — Five steps. No account, no install, works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1:18–1:43 — The tools are deterministic and run first; the agents argue over a fixed record. They cannot choose what to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1:43–2:03 — The gate checks every quote character-for-character; failed drafts never reach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2:03–2:25 — Held-out numbers, reproduced by the repo's 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2:25–2:37 — Local mode: nothing leaves the device; identifiers masked before sharing.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2:37–2:49 — Law School turns cases into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2:49–3:04 — Who pays: the family buyer and the institution. Bottom-up sizing; assumptions stated as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3:04–3:22 — Limits docketed: English corpus, anatomy not reputation, advice never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3:22–5:00 — Play the embedded film (1:33), then point at the URL. If behind schedule, skip the film and run one live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9622CC8-5CD5-45BF-A151-60B8171A201F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89BE5E7-4FEC-4421-8064-6775CD2F51A0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86D6E7-CE10-4F32-9C20-8EA2DA3AE36A}"/>
              </a:ext>
            </a:extLst>
          </p:cNvPr>
          <p:cNvSpPr/>
          <p:nvPr/>
        </p:nvSpPr>
        <p:spPr>
          <a:xfrm>
            <a:off x="9010650" y="1257300"/>
            <a:ext cx="2457450" cy="1600200"/>
          </a:xfrm>
          <a:prstGeom prst="roundRect">
            <a:avLst/>
          </a:prstGeom>
          <a:solidFill>
            <a:srgbClr val="2C2012"/>
          </a:solidFill>
          <a:ln w="38100">
            <a:solidFill>
              <a:srgbClr val="B843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4400" b="1">
                <a:solidFill>
                  <a:srgbClr val="B8433A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F381DA-F5B6-4302-8C05-0C51699FB8CB}"/>
              </a:ext>
            </a:extLst>
          </p:cNvPr>
          <p:cNvSpPr txBox="1"/>
          <p:nvPr/>
        </p:nvSpPr>
        <p:spPr>
          <a:xfrm>
            <a:off x="914400" y="838200"/>
            <a:ext cx="685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A8823A"/>
                </a:solidFill>
                <a:latin typeface="Courier New"/>
                <a:ea typeface="Courier New"/>
              </a:rPr>
              <a:t>AN AGENTIC COURTROOM FOR SCAM DEFENCE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9966E8-9EE3-49E0-A831-029491BF166E}"/>
              </a:ext>
            </a:extLst>
          </p:cNvPr>
          <p:cNvSpPr txBox="1"/>
          <p:nvPr/>
        </p:nvSpPr>
        <p:spPr>
          <a:xfrm>
            <a:off x="876300" y="1571625"/>
            <a:ext cx="8001000" cy="1562100"/>
          </a:xfrm>
        </p:spPr>
        <p:txBody>
          <a:bodyPr wrap="square" rtlCol="0" lIns="0" tIns="0" rIns="0" bIns="0" anchor="t"/>
          <a:lstStyle/>
          <a:p>
            <a:pPr algn="l"/>
            <a:r>
              <a:rPr sz="8800" b="1">
                <a:solidFill>
                  <a:srgbClr val="F4EAD2"/>
                </a:solidFill>
                <a:latin typeface="Georgia"/>
                <a:ea typeface="Georgia"/>
              </a:rPr>
              <a:t>G A V E 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18E70D9-532F-4C93-84CA-212E72F09333}"/>
              </a:ext>
            </a:extLst>
          </p:cNvPr>
          <p:cNvSpPr/>
          <p:nvPr/>
        </p:nvSpPr>
        <p:spPr>
          <a:xfrm>
            <a:off x="914400" y="3390900"/>
            <a:ext cx="49530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9714E37-5A4D-430A-9EAD-A885CA096466}"/>
              </a:ext>
            </a:extLst>
          </p:cNvPr>
          <p:cNvSpPr txBox="1"/>
          <p:nvPr/>
        </p:nvSpPr>
        <p:spPr>
          <a:xfrm>
            <a:off x="914400" y="3638550"/>
            <a:ext cx="7905750" cy="590550"/>
          </a:xfrm>
        </p:spPr>
        <p:txBody>
          <a:bodyPr wrap="square" rtlCol="0" lIns="0" tIns="0" rIns="0" bIns="0" anchor="t"/>
          <a:lstStyle/>
          <a:p>
            <a:pPr algn="l"/>
            <a:r>
              <a:rPr sz="3400" i="1">
                <a:solidFill>
                  <a:srgbClr val="E6D7B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12EB55-B4A3-4348-B45C-5F87AD8E9790}"/>
              </a:ext>
            </a:extLst>
          </p:cNvPr>
          <p:cNvSpPr txBox="1"/>
          <p:nvPr/>
        </p:nvSpPr>
        <p:spPr>
          <a:xfrm>
            <a:off x="914400" y="4400550"/>
            <a:ext cx="666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BE52E3-E708-4A12-84F8-6716390C18C0}"/>
              </a:ext>
            </a:extLst>
          </p:cNvPr>
          <p:cNvSpPr txBox="1"/>
          <p:nvPr/>
        </p:nvSpPr>
        <p:spPr>
          <a:xfrm>
            <a:off x="914400" y="5867400"/>
            <a:ext cx="5334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A7A5C"/>
                </a:solidFill>
                <a:latin typeface="Courier New"/>
                <a:ea typeface="Courier New"/>
              </a:rPr>
              <a:t>HOKKIEN MEE IS RED  ·  GAVEL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00A7D3CB-C724-4F77-8083-2D18D8FA4A96}"/>
              </a:ext>
            </a:extLst>
          </p:cNvPr>
          <p:cNvSpPr/>
          <p:nvPr/>
        </p:nvSpPr>
        <p:spPr>
          <a:xfrm>
            <a:off x="66675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6479E4A-30B6-45E0-869F-A4F78613532C}"/>
              </a:ext>
            </a:extLst>
          </p:cNvPr>
          <p:cNvSpPr/>
          <p:nvPr/>
        </p:nvSpPr>
        <p:spPr>
          <a:xfrm>
            <a:off x="4391025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F51882-DEFD-4A5C-AA6F-F0334A83E429}"/>
              </a:ext>
            </a:extLst>
          </p:cNvPr>
          <p:cNvSpPr/>
          <p:nvPr/>
        </p:nvSpPr>
        <p:spPr>
          <a:xfrm>
            <a:off x="811530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FADFE23-7617-4DC5-A2C4-4E3EF7A1FF8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PROBLEM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51D8501-A288-4371-AC1E-686145FE683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Scams are won in moments of decision.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936902-C2C0-434F-867B-679CE8E509AF}"/>
              </a:ext>
            </a:extLst>
          </p:cNvPr>
          <p:cNvSpPr txBox="1"/>
          <p:nvPr/>
        </p:nvSpPr>
        <p:spPr>
          <a:xfrm>
            <a:off x="89535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Seconds, engineered.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0B7162A-7888-4D9F-B088-9770530641BE}"/>
              </a:ext>
            </a:extLst>
          </p:cNvPr>
          <p:cNvSpPr txBox="1"/>
          <p:nvPr/>
        </p:nvSpPr>
        <p:spPr>
          <a:xfrm>
            <a:off x="89535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parcel-fee SMS, a bank alert, a job offer. The moment of decision is short — and every second of it is built against the person holding the phone.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333FB1-3C81-4F6E-9E31-7B2B63B1B435}"/>
              </a:ext>
            </a:extLst>
          </p:cNvPr>
          <p:cNvSpPr txBox="1"/>
          <p:nvPr/>
        </p:nvSpPr>
        <p:spPr>
          <a:xfrm>
            <a:off x="4619625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Scores, not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8F9C2CC-83BD-4B8C-AAA4-27DDBEC41A46}"/>
              </a:ext>
            </a:extLst>
          </p:cNvPr>
          <p:cNvSpPr txBox="1"/>
          <p:nvPr/>
        </p:nvSpPr>
        <p:spPr>
          <a:xfrm>
            <a:off x="4619625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Detectors return a number and call it an answer. They never show their working, and they never let you see why.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4517B-A629-4481-ACFD-0BB4E11FCB50}"/>
              </a:ext>
            </a:extLst>
          </p:cNvPr>
          <p:cNvSpPr txBox="1"/>
          <p:nvPr/>
        </p:nvSpPr>
        <p:spPr>
          <a:xfrm>
            <a:off x="834390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Never 'probably' safe.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D7E78D-D395-4061-AC3F-AB9A3FF21E00}"/>
              </a:ext>
            </a:extLst>
          </p:cNvPr>
          <p:cNvSpPr txBox="1"/>
          <p:nvPr/>
        </p:nvSpPr>
        <p:spPr>
          <a:xfrm>
            <a:off x="834390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Honest bills, delivery notices and bank alerts arrive every day — and get counted as risk alongside the scams.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5D544A2-AF72-4BE8-8932-0C15ED2DC1EF}"/>
              </a:ext>
            </a:extLst>
          </p:cNvPr>
          <p:cNvSpPr txBox="1"/>
          <p:nvPr/>
        </p:nvSpPr>
        <p:spPr>
          <a:xfrm>
            <a:off x="666750" y="55245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Today's defences answer the wrong question: 'is this on a blocklist?' — never 'what should I do, right now?'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1FE4955-C108-4CEE-B7ED-E22097C7613A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5001256-8952-4F86-B99B-A147F04D47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1809750"/>
            <a:ext cx="5048250" cy="3419475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335E3F-6289-4860-A552-179DAE2DC6C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IDEA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9B1FFFA-0A10-4581-A00F-CC16F3D6AE7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A courtroom, not a scanner.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D97D-AF9A-480C-90AD-03ED54A6EC7A}"/>
              </a:ext>
            </a:extLst>
          </p:cNvPr>
          <p:cNvSpPr txBox="1"/>
          <p:nvPr/>
        </p:nvSpPr>
        <p:spPr>
          <a:xfrm>
            <a:off x="666750" y="1905000"/>
            <a:ext cx="5334000" cy="990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Anything suspicious — a message, a link, a QR code, a document, a voice note — is booked as a case and put on trial.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F6FB93-68AA-4498-A042-E7F4B2699BB7}"/>
              </a:ext>
            </a:extLst>
          </p:cNvPr>
          <p:cNvSpPr txBox="1"/>
          <p:nvPr/>
        </p:nvSpPr>
        <p:spPr>
          <a:xfrm>
            <a:off x="666750" y="31432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Prosecutor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files numbered exhibits, pinned to the exact words that raised them.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Defence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argues the benign reading — the brand's real domain, the shape of a genuine notice.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Clerk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writes the bench memo — charge, evidence, counter-evidence, honest confidence.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D66415E-20CB-4290-B1E2-D0243C92B537}"/>
              </a:ext>
            </a:extLst>
          </p:cNvPr>
          <p:cNvSpPr txBox="1"/>
          <p:nvPr/>
        </p:nvSpPr>
        <p:spPr>
          <a:xfrm>
            <a:off x="666750" y="5810250"/>
            <a:ext cx="53340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7C1D17"/>
                </a:solidFill>
                <a:latin typeface="Courier New"/>
                <a:ea typeface="Courier New"/>
              </a:rPr>
              <a:t>GUILTY · ACQUITTED · HUNG JURY — then the gavel is yours.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825222D-5F39-433A-BF0A-8C975D18A2A5}"/>
              </a:ext>
            </a:extLst>
          </p:cNvPr>
          <p:cNvSpPr txBox="1"/>
          <p:nvPr/>
        </p:nvSpPr>
        <p:spPr>
          <a:xfrm>
            <a:off x="6477000" y="5381625"/>
            <a:ext cx="5048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50">
                <a:solidFill>
                  <a:srgbClr val="A08E6C"/>
                </a:solidFill>
                <a:latin typeface="Courier New"/>
                <a:ea typeface="Courier New"/>
              </a:rPr>
              <a:t>The gavel zone — the verdict is yours to swing.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9B50CF-C245-4E84-B3B0-2F5F4240FB4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D3EF613-BDFC-470F-95A9-164E3B3F2D0D}"/>
              </a:ext>
            </a:extLst>
          </p:cNvPr>
          <p:cNvSpPr/>
          <p:nvPr/>
        </p:nvSpPr>
        <p:spPr>
          <a:xfrm>
            <a:off x="1238250" y="2676525"/>
            <a:ext cx="97155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7E303BD-5F69-4C3A-BDE0-926C296724D8}"/>
              </a:ext>
            </a:extLst>
          </p:cNvPr>
          <p:cNvSpPr/>
          <p:nvPr/>
        </p:nvSpPr>
        <p:spPr>
          <a:xfrm>
            <a:off x="9334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18C01FA-B006-49BD-8EF0-82573607DC13}"/>
              </a:ext>
            </a:extLst>
          </p:cNvPr>
          <p:cNvSpPr/>
          <p:nvPr/>
        </p:nvSpPr>
        <p:spPr>
          <a:xfrm>
            <a:off x="336232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EE8B2C-B957-4FFA-A569-8869E4A2C076}"/>
              </a:ext>
            </a:extLst>
          </p:cNvPr>
          <p:cNvSpPr/>
          <p:nvPr/>
        </p:nvSpPr>
        <p:spPr>
          <a:xfrm>
            <a:off x="579120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A84828-AF02-4F78-960F-CDE06EF4E984}"/>
              </a:ext>
            </a:extLst>
          </p:cNvPr>
          <p:cNvSpPr/>
          <p:nvPr/>
        </p:nvSpPr>
        <p:spPr>
          <a:xfrm>
            <a:off x="822007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81BF691-C9FC-41C9-8538-03222142FECA}"/>
              </a:ext>
            </a:extLst>
          </p:cNvPr>
          <p:cNvSpPr/>
          <p:nvPr/>
        </p:nvSpPr>
        <p:spPr>
          <a:xfrm>
            <a:off x="106489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E11634-4C64-4EBE-8251-05F573D1B852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TRIAL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89184EE-A434-42F4-9765-FB02FAC04F0C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Five steps, one courtroom.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62EC17-309C-485F-BE6E-08B2A6246290}"/>
              </a:ext>
            </a:extLst>
          </p:cNvPr>
          <p:cNvSpPr txBox="1"/>
          <p:nvPr/>
        </p:nvSpPr>
        <p:spPr>
          <a:xfrm>
            <a:off x="9334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8126886-6E1E-4E48-9EA3-B8FDB0968903}"/>
              </a:ext>
            </a:extLst>
          </p:cNvPr>
          <p:cNvSpPr txBox="1"/>
          <p:nvPr/>
        </p:nvSpPr>
        <p:spPr>
          <a:xfrm>
            <a:off x="336232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E4B6CA5-43D8-44CD-AB5D-13C74A59BC4A}"/>
              </a:ext>
            </a:extLst>
          </p:cNvPr>
          <p:cNvSpPr txBox="1"/>
          <p:nvPr/>
        </p:nvSpPr>
        <p:spPr>
          <a:xfrm>
            <a:off x="579120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0AAB86-3917-42E8-9D8B-EEF50DEA8707}"/>
              </a:ext>
            </a:extLst>
          </p:cNvPr>
          <p:cNvSpPr txBox="1"/>
          <p:nvPr/>
        </p:nvSpPr>
        <p:spPr>
          <a:xfrm>
            <a:off x="822007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6D15F7-2FAE-4E6D-8E45-418518097DE2}"/>
              </a:ext>
            </a:extLst>
          </p:cNvPr>
          <p:cNvSpPr txBox="1"/>
          <p:nvPr/>
        </p:nvSpPr>
        <p:spPr>
          <a:xfrm>
            <a:off x="106489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0D3E403-4234-465A-ACB9-09A86E5EEE8D}"/>
              </a:ext>
            </a:extLst>
          </p:cNvPr>
          <p:cNvSpPr txBox="1"/>
          <p:nvPr/>
        </p:nvSpPr>
        <p:spPr>
          <a:xfrm>
            <a:off x="2857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Book a case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B25024E-23CA-4A78-A756-C2157AD980CA}"/>
              </a:ext>
            </a:extLst>
          </p:cNvPr>
          <p:cNvSpPr txBox="1"/>
          <p:nvPr/>
        </p:nvSpPr>
        <p:spPr>
          <a:xfrm>
            <a:off x="2857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Paste a message, upload a file, scan a QR code — or speak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86F637-93EE-45DD-B9CB-243E847D781F}"/>
              </a:ext>
            </a:extLst>
          </p:cNvPr>
          <p:cNvSpPr txBox="1"/>
          <p:nvPr/>
        </p:nvSpPr>
        <p:spPr>
          <a:xfrm>
            <a:off x="271462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Exhibits filed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8A7CF15-F0E5-4E4A-ABA0-27FC901300E4}"/>
              </a:ext>
            </a:extLst>
          </p:cNvPr>
          <p:cNvSpPr txBox="1"/>
          <p:nvPr/>
        </p:nvSpPr>
        <p:spPr>
          <a:xfrm>
            <a:off x="271462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Numbered findings, each quoted back to your own words.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BA5C4C0-D406-47F2-8661-273F77155C57}"/>
              </a:ext>
            </a:extLst>
          </p:cNvPr>
          <p:cNvSpPr txBox="1"/>
          <p:nvPr/>
        </p:nvSpPr>
        <p:spPr>
          <a:xfrm>
            <a:off x="514350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Officers speak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9C79BA-ADAD-43FC-8235-96C2A5B697E9}"/>
              </a:ext>
            </a:extLst>
          </p:cNvPr>
          <p:cNvSpPr txBox="1"/>
          <p:nvPr/>
        </p:nvSpPr>
        <p:spPr>
          <a:xfrm>
            <a:off x="514350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Prosecutor, defence and clerk — every line checked against the record.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F387624-A02B-4FEC-8908-9B940083CC8C}"/>
              </a:ext>
            </a:extLst>
          </p:cNvPr>
          <p:cNvSpPr txBox="1"/>
          <p:nvPr/>
        </p:nvSpPr>
        <p:spPr>
          <a:xfrm>
            <a:off x="757237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Swing the gavel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4E89A0F-43D4-442B-9E1F-F7DDBED8FAE7}"/>
              </a:ext>
            </a:extLst>
          </p:cNvPr>
          <p:cNvSpPr txBox="1"/>
          <p:nvPr/>
        </p:nvSpPr>
        <p:spPr>
          <a:xfrm>
            <a:off x="757237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GUILTY, ACQUITTED, or HUNG JURY when the evidence cannot decide.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8EE6EC9-03A7-41E8-9AD3-46C9257EEB4C}"/>
              </a:ext>
            </a:extLst>
          </p:cNvPr>
          <p:cNvSpPr txBox="1"/>
          <p:nvPr/>
        </p:nvSpPr>
        <p:spPr>
          <a:xfrm>
            <a:off x="100012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The sentence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2045591-E68A-48AB-A07F-8C61D8A2819D}"/>
              </a:ext>
            </a:extLst>
          </p:cNvPr>
          <p:cNvSpPr txBox="1"/>
          <p:nvPr/>
        </p:nvSpPr>
        <p:spPr>
          <a:xfrm>
            <a:off x="100012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Next-five-minutes checklist, a cooling clock, redacted alerts.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FEC510D-7541-4FB0-8CFD-A4D11F4CAF1F}"/>
              </a:ext>
            </a:extLst>
          </p:cNvPr>
          <p:cNvSpPr txBox="1"/>
          <p:nvPr/>
        </p:nvSpPr>
        <p:spPr>
          <a:xfrm>
            <a:off x="1333500" y="5334000"/>
            <a:ext cx="952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No account. No install. The court convenes in your browser — with or without a network.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B1C366B-E829-44A5-9873-A76445E0F53E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B071FD-7A65-48B2-B27C-7B2310851555}"/>
              </a:ext>
            </a:extLst>
          </p:cNvPr>
          <p:cNvSpPr/>
          <p:nvPr/>
        </p:nvSpPr>
        <p:spPr>
          <a:xfrm>
            <a:off x="6667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7E199D7-C126-462A-BF7F-462342782B24}"/>
              </a:ext>
            </a:extLst>
          </p:cNvPr>
          <p:cNvSpPr/>
          <p:nvPr/>
        </p:nvSpPr>
        <p:spPr>
          <a:xfrm>
            <a:off x="63055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3C4C12-A242-4706-A7F2-52D99C5C1EAA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ENGINE AND THE OFFICERS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DA4DEE-2C74-439C-8773-E6A7D6202ECA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Three readers, three officers.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171512-1308-43B4-9568-B5A63C4D7EFD}"/>
              </a:ext>
            </a:extLst>
          </p:cNvPr>
          <p:cNvSpPr txBox="1"/>
          <p:nvPr/>
        </p:nvSpPr>
        <p:spPr>
          <a:xfrm>
            <a:off x="9525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ENGINE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3A9DCB0-D235-47D6-A652-A9C840D7B908}"/>
              </a:ext>
            </a:extLst>
          </p:cNvPr>
          <p:cNvSpPr txBox="1"/>
          <p:nvPr/>
        </p:nvSpPr>
        <p:spPr>
          <a:xfrm>
            <a:off x="9525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text classifier trained and calibrated on 5,160 deduplicated SMS messages.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Offline URL anatomy — homoglyphs, subdomain chains, credentials in the URL, shorteners.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QR decode: where the code actually goes, before you tap.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Document and voice intake — text is extracted, never executed.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Deterministic triage runs first, with zero network.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D0FDCD9-DAB2-49EC-ABBF-FEAD0D3CA3A8}"/>
              </a:ext>
            </a:extLst>
          </p:cNvPr>
          <p:cNvSpPr txBox="1"/>
          <p:nvPr/>
        </p:nvSpPr>
        <p:spPr>
          <a:xfrm>
            <a:off x="65913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OFFICERS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6B5BE5-F216-4D13-BEBE-4311FD061DD9}"/>
              </a:ext>
            </a:extLst>
          </p:cNvPr>
          <p:cNvSpPr txBox="1"/>
          <p:nvPr/>
        </p:nvSpPr>
        <p:spPr>
          <a:xfrm>
            <a:off x="65913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Prosecutor opens the case and reads the strongest exhibits. The tools ran first — deterministically, before any officer speaks.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Defence argues the benign reading — the brand's real domain; the honest notice.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Clerk writes the bench memo: charge, evidence, counter-evidence, honest confidence band.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Every drafted speech passes a verification gate before it may speak.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244827F-0A31-4987-8FCD-9F6F1F427A31}"/>
              </a:ext>
            </a:extLst>
          </p:cNvPr>
          <p:cNvSpPr txBox="1"/>
          <p:nvPr/>
        </p:nvSpPr>
        <p:spPr>
          <a:xfrm>
            <a:off x="666750" y="590550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One engine, two implementations — the Python training pipeline and the live TypeScript runtime are parity-tested.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C22BA1B-5C8A-4959-BFD4-56ABB480C851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09BF468-97E8-4567-9E4A-969AA3115176}"/>
              </a:ext>
            </a:extLst>
          </p:cNvPr>
          <p:cNvSpPr/>
          <p:nvPr/>
        </p:nvSpPr>
        <p:spPr>
          <a:xfrm>
            <a:off x="1181100" y="2171700"/>
            <a:ext cx="9829800" cy="2495550"/>
          </a:xfrm>
          <a:prstGeom prst="roundRect">
            <a:avLst/>
          </a:prstGeom>
          <a:solidFill>
            <a:srgbClr val="ECE1C9"/>
          </a:solidFill>
          <a:ln w="12700">
            <a:solidFill>
              <a:srgbClr val="A8823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BCD7F44-E846-41A4-A0BF-34EB627355B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47800" y="2438400"/>
            <a:ext cx="9296400" cy="196215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A1253B8A-D205-4CC0-A9E1-0774A822B3C7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VERIFICATION GATE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4253829-FBC8-4560-866A-3B00C2E53803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F4EAD2"/>
                </a:solidFill>
                <a:latin typeface="Georgia"/>
                <a:ea typeface="Georgia"/>
              </a:rPr>
              <a:t>Every word on screen is sourced.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AEB7F26-C888-4D01-B2F9-A157ECC9804B}"/>
              </a:ext>
            </a:extLst>
          </p:cNvPr>
          <p:cNvSpPr txBox="1"/>
          <p:nvPr/>
        </p:nvSpPr>
        <p:spPr>
          <a:xfrm>
            <a:off x="666750" y="1771650"/>
            <a:ext cx="10858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E6D7B2"/>
                </a:solidFill>
                <a:latin typeface="Segoe UI"/>
                <a:ea typeface="Segoe UI"/>
              </a:rPr>
              <a:t>Every quoted word in a drafted speech must exist character-for-character in the court record.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43BD412-1105-4AE6-8463-2509BBBB5AB9}"/>
              </a:ext>
            </a:extLst>
          </p:cNvPr>
          <p:cNvSpPr txBox="1"/>
          <p:nvPr/>
        </p:nvSpPr>
        <p:spPr>
          <a:xfrm>
            <a:off x="1333500" y="4819650"/>
            <a:ext cx="952500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Exhibit A — quoted back onto the message itself, character for character.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6A1FC39-2447-48A9-8AB7-782650CFC55E}"/>
              </a:ext>
            </a:extLst>
          </p:cNvPr>
          <p:cNvSpPr txBox="1"/>
          <p:nvPr/>
        </p:nvSpPr>
        <p:spPr>
          <a:xfrm>
            <a:off x="666750" y="5200650"/>
            <a:ext cx="108585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E6D7B2"/>
                </a:solidFill>
                <a:latin typeface="Segoe UI"/>
                <a:ea typeface="Segoe UI"/>
              </a:rPr>
              <a:t>A draft that invents evidence is discarded — fabricated quotes reach the screen zero times, by construction. No model? Offline, rate-limited, or failing the gate, the scripted bench compiles the officers' arguments deterministically from the exhibits — the courtroom completes every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ABBD78F-A755-42DE-9265-EBC71605EBA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5039CD1-FBE6-4CD0-91CB-6C0D663A8C6E}"/>
              </a:ext>
            </a:extLst>
          </p:cNvPr>
          <p:cNvSpPr/>
          <p:nvPr/>
        </p:nvSpPr>
        <p:spPr>
          <a:xfrm>
            <a:off x="5715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F662C77-92B9-4152-8A71-1A19D409F91B}"/>
              </a:ext>
            </a:extLst>
          </p:cNvPr>
          <p:cNvSpPr/>
          <p:nvPr/>
        </p:nvSpPr>
        <p:spPr>
          <a:xfrm>
            <a:off x="28194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6FDA71A-8E08-4D04-980D-15F62744895D}"/>
              </a:ext>
            </a:extLst>
          </p:cNvPr>
          <p:cNvSpPr/>
          <p:nvPr/>
        </p:nvSpPr>
        <p:spPr>
          <a:xfrm>
            <a:off x="50673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513D077-107F-4F2A-A155-0D7E692BAA05}"/>
              </a:ext>
            </a:extLst>
          </p:cNvPr>
          <p:cNvSpPr/>
          <p:nvPr/>
        </p:nvSpPr>
        <p:spPr>
          <a:xfrm>
            <a:off x="73152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0F37A8F-243F-46C3-B5C1-3C79EBA32783}"/>
              </a:ext>
            </a:extLst>
          </p:cNvPr>
          <p:cNvSpPr/>
          <p:nvPr/>
        </p:nvSpPr>
        <p:spPr>
          <a:xfrm>
            <a:off x="95631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6C74BDA-FB2B-42F7-BC50-A5FB3923332D}"/>
              </a:ext>
            </a:extLst>
          </p:cNvPr>
          <p:cNvSpPr txBox="1"/>
          <p:nvPr/>
        </p:nvSpPr>
        <p:spPr>
          <a:xfrm>
            <a:off x="57150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MEASURED NUMBERS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1852193-27A6-4F4B-A62D-9A7CE110B9AF}"/>
              </a:ext>
            </a:extLst>
          </p:cNvPr>
          <p:cNvSpPr txBox="1"/>
          <p:nvPr/>
        </p:nvSpPr>
        <p:spPr>
          <a:xfrm>
            <a:off x="57150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Measured, not promised.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3D60DF6-327C-444D-8CCE-2C80D71A26F7}"/>
              </a:ext>
            </a:extLst>
          </p:cNvPr>
          <p:cNvSpPr txBox="1"/>
          <p:nvPr/>
        </p:nvSpPr>
        <p:spPr>
          <a:xfrm>
            <a:off x="7239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0.9990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168690-28D2-41FE-BCCB-A76E183D5FE3}"/>
              </a:ext>
            </a:extLst>
          </p:cNvPr>
          <p:cNvSpPr txBox="1"/>
          <p:nvPr/>
        </p:nvSpPr>
        <p:spPr>
          <a:xfrm>
            <a:off x="7239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HELD-OUT AUC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3AD9D01-E0FF-48FB-A9CB-8BC8F441FC06}"/>
              </a:ext>
            </a:extLst>
          </p:cNvPr>
          <p:cNvSpPr txBox="1"/>
          <p:nvPr/>
        </p:nvSpPr>
        <p:spPr>
          <a:xfrm>
            <a:off x="7239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classifier · UCI SMS Spam, 5,160 dedup. msgs · calibration error 0.0060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C7120A-B780-462C-AED1-B76EB1C3B61D}"/>
              </a:ext>
            </a:extLst>
          </p:cNvPr>
          <p:cNvSpPr txBox="1"/>
          <p:nvPr/>
        </p:nvSpPr>
        <p:spPr>
          <a:xfrm>
            <a:off x="29718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96.8%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845A329-8189-4C28-862A-3B7900FF4257}"/>
              </a:ext>
            </a:extLst>
          </p:cNvPr>
          <p:cNvSpPr txBox="1"/>
          <p:nvPr/>
        </p:nvSpPr>
        <p:spPr>
          <a:xfrm>
            <a:off x="29718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PRECISION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D09A542-C75A-43CF-914A-7CD2436B780F}"/>
              </a:ext>
            </a:extLst>
          </p:cNvPr>
          <p:cNvSpPr txBox="1"/>
          <p:nvPr/>
        </p:nvSpPr>
        <p:spPr>
          <a:xfrm>
            <a:off x="29718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93294C5-D28C-469E-B0CC-7E3831126C4C}"/>
              </a:ext>
            </a:extLst>
          </p:cNvPr>
          <p:cNvSpPr txBox="1"/>
          <p:nvPr/>
        </p:nvSpPr>
        <p:spPr>
          <a:xfrm>
            <a:off x="52197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96.0%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35B1DFF-4E1C-498D-8E0B-964AE399FAB5}"/>
              </a:ext>
            </a:extLst>
          </p:cNvPr>
          <p:cNvSpPr txBox="1"/>
          <p:nvPr/>
        </p:nvSpPr>
        <p:spPr>
          <a:xfrm>
            <a:off x="52197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SCAM RECALL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7C376C4-2813-42B0-AEF1-C61EFD5CFB16}"/>
              </a:ext>
            </a:extLst>
          </p:cNvPr>
          <p:cNvSpPr txBox="1"/>
          <p:nvPr/>
        </p:nvSpPr>
        <p:spPr>
          <a:xfrm>
            <a:off x="52197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C673FD5-1879-405E-B1CA-C52D42DAFBF7}"/>
              </a:ext>
            </a:extLst>
          </p:cNvPr>
          <p:cNvSpPr txBox="1"/>
          <p:nvPr/>
        </p:nvSpPr>
        <p:spPr>
          <a:xfrm>
            <a:off x="74676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0.44%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D31B8FF-F5DF-4941-A8A6-E6F8D8E338FB}"/>
              </a:ext>
            </a:extLst>
          </p:cNvPr>
          <p:cNvSpPr txBox="1"/>
          <p:nvPr/>
        </p:nvSpPr>
        <p:spPr>
          <a:xfrm>
            <a:off x="74676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FALSE ALARMS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DC6951-DD8E-4651-9FE0-B4F8EA9896CB}"/>
              </a:ext>
            </a:extLst>
          </p:cNvPr>
          <p:cNvSpPr txBox="1"/>
          <p:nvPr/>
        </p:nvSpPr>
        <p:spPr>
          <a:xfrm>
            <a:off x="74676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of genuine messages · 0.87% sent to hung jury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D49B9E-5036-4C03-A1CA-6896AAA646AC}"/>
              </a:ext>
            </a:extLst>
          </p:cNvPr>
          <p:cNvSpPr txBox="1"/>
          <p:nvPr/>
        </p:nvSpPr>
        <p:spPr>
          <a:xfrm>
            <a:off x="97155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6B00EFE-EDA7-48B8-8F40-D2F180774AAC}"/>
              </a:ext>
            </a:extLst>
          </p:cNvPr>
          <p:cNvSpPr txBox="1"/>
          <p:nvPr/>
        </p:nvSpPr>
        <p:spPr>
          <a:xfrm>
            <a:off x="97155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MS PER CASE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0C2F5E-3831-4FFF-B6E8-E1E53843D701}"/>
              </a:ext>
            </a:extLst>
          </p:cNvPr>
          <p:cNvSpPr txBox="1"/>
          <p:nvPr/>
        </p:nvSpPr>
        <p:spPr>
          <a:xfrm>
            <a:off x="97155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on device · every case, no network needed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6973A6B-3065-4D2A-A131-FAC6FCBC02D1}"/>
              </a:ext>
            </a:extLst>
          </p:cNvPr>
          <p:cNvSpPr txBox="1"/>
          <p:nvPr/>
        </p:nvSpPr>
        <p:spPr>
          <a:xfrm>
            <a:off x="571500" y="4857750"/>
            <a:ext cx="1104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24/24 authored golden cases pass in the shipped test suite · every published number is regenerated by the repository's own evaluation scripts.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FF5DDEB-F2AA-4FBA-9A1E-6180B6B3D91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90E368E-98A4-45B1-889F-E31FA85ECAB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PRIVACY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2069F13-717C-4962-95F2-50317002BC5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Nothing is blocked, sent, or filed without you.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AFD59B7-4A35-4A1E-995E-F284A845709F}"/>
              </a:ext>
            </a:extLst>
          </p:cNvPr>
          <p:cNvSpPr txBox="1"/>
          <p:nvPr/>
        </p:nvSpPr>
        <p:spPr>
          <a:xfrm>
            <a:off x="857250" y="2381250"/>
            <a:ext cx="1905000" cy="13906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7C1D17"/>
                </a:solidFill>
                <a:latin typeface="Georgia"/>
                <a:ea typeface="Georgia"/>
              </a:rPr>
              <a:t>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8637E-E793-41BD-BC2A-43F5F5AEC5C9}"/>
              </a:ext>
            </a:extLst>
          </p:cNvPr>
          <p:cNvSpPr txBox="1"/>
          <p:nvPr/>
        </p:nvSpPr>
        <p:spPr>
          <a:xfrm>
            <a:off x="857250" y="3905250"/>
            <a:ext cx="41910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6A5A44"/>
                </a:solidFill>
                <a:latin typeface="Segoe UI"/>
                <a:ea typeface="Segoe UI"/>
              </a:rPr>
              <a:t>messages leave the device in local mode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2F48B9-0E53-42D0-9E52-03922F45CE34}"/>
              </a:ext>
            </a:extLst>
          </p:cNvPr>
          <p:cNvSpPr txBox="1"/>
          <p:nvPr/>
        </p:nvSpPr>
        <p:spPr>
          <a:xfrm>
            <a:off x="5334000" y="2381250"/>
            <a:ext cx="619125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Local mode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the message never leaves the device. No upload, no network, no trace.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Masked by default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personal identifiers are stripped before anything is shared, with you or with anyone you warn.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Installs nothing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it runs on a free tier and keeps your archive in your own browser.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299A3DF-5E67-4CE2-839A-A70DABF0D08F}"/>
              </a:ext>
            </a:extLst>
          </p:cNvPr>
          <p:cNvSpPr txBox="1"/>
          <p:nvPr/>
        </p:nvSpPr>
        <p:spPr>
          <a:xfrm>
            <a:off x="666750" y="59055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Privacy is the default — not a setting you have to find.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4FE9D54-EDCF-42C5-B325-0EE78DC293B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808F6E47-AA5C-4B50-9555-B3DADA5BBCB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6750" y="1714500"/>
            <a:ext cx="4095750" cy="47815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B1043F4-0579-4644-B369-AE0718DD8D5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LAW SCHOOL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255238-8C28-43A1-AA2E-C82E373620A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Every case teaches the next one.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28404C6-2D6B-4CF3-85DD-41F27D4FC879}"/>
              </a:ext>
            </a:extLst>
          </p:cNvPr>
          <p:cNvSpPr txBox="1"/>
          <p:nvPr/>
        </p:nvSpPr>
        <p:spPr>
          <a:xfrm>
            <a:off x="5334000" y="1809750"/>
            <a:ext cx="619125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Scam types written up as case law, distilled from official guidance — then practised until they stick.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EDD5DA-1DC5-473D-AF5D-5F3220F24B96}"/>
              </a:ext>
            </a:extLst>
          </p:cNvPr>
          <p:cNvSpPr txBox="1"/>
          <p:nvPr/>
        </p:nvSpPr>
        <p:spPr>
          <a:xfrm>
            <a:off x="5334000" y="2762250"/>
            <a:ext cx="6191250" cy="2857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Case law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scam types written up as case law distilled from official guidance.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Daily Docket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one case to judge every day.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Drills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pattern-spotting practice between real cases.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Ranks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earned by judging real cases, not by reading about them.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BF690F-B84A-4836-AAA4-7EFBC8F7F6A0}"/>
              </a:ext>
            </a:extLst>
          </p:cNvPr>
          <p:cNvSpPr txBox="1"/>
          <p:nvPr/>
        </p:nvSpPr>
        <p:spPr>
          <a:xfrm>
            <a:off x="5334000" y="5810250"/>
            <a:ext cx="61912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Awareness programmes lecture. GAVEL makes you practise.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26027C2-E209-4584-B093-DD2134F8CEED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BUSINESS</a:t>
            </a: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Who pays, and why it holds.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Trust is the moat — the product is auditable by the person who pays for it.</a:t>
            </a:r>
          </a:p>
        </p:txBody>
      </p:sp>
      <p:sp>
        <p:nvSpPr>
          <p:cNvPr id="5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10 / 12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7512" y="1810512"/>
            <a:ext cx="3474720" cy="4096512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0976" y="2039112"/>
            <a:ext cx="2907792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WHO PAYS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0976" y="2395728"/>
            <a:ext cx="2907792" cy="3236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>
                <a:solidFill>
                  <a:srgbClr val="6A5A44"/>
                </a:solidFill>
                <a:latin typeface="Segoe UI"/>
                <a:ea typeface="Segoe UI"/>
              </a:rPr>
              <a:t>The family buyer — the person who forwards the parcel SMS to the group chat — at RM4.90 a month. And the bank, telco or e-wallet that would rather prevent a transfer than reverse one.</a:t>
            </a:r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4361688" y="1810512"/>
            <a:ext cx="3474720" cy="4096512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4645151" y="2039112"/>
            <a:ext cx="2907792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MARKET · BOTTOM-UP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4645151" y="2395728"/>
            <a:ext cx="2907792" cy="3236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>
                <a:solidFill>
                  <a:srgbClr val="6A5A44"/>
                </a:solidFill>
                <a:latin typeface="Segoe UI"/>
                <a:ea typeface="Segoe UI"/>
              </a:rPr>
              <a:t>8.0M Malaysian households × RM4.90/month ≈ RM470M/year consumer TAM. 27 banks, 5 telcos, 10 e-wallets × a RM250k pilot ≈ RM10M/year initial institutional segment. Assumptions, not forecasts.</a:t>
            </a:r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8055864" y="1810512"/>
            <a:ext cx="3474720" cy="4096512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8339328" y="2039112"/>
            <a:ext cx="2907792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MODEL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8339328" y="2395728"/>
            <a:ext cx="2907792" cy="3236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>
                <a:solidFill>
                  <a:srgbClr val="6A5A44"/>
                </a:solidFill>
                <a:latin typeface="Segoe UI"/>
                <a:ea typeface="Segoe UI"/>
              </a:rPr>
              <a:t>Free single cases. A RM4.90/month family plan. White-label licence and per-case API for institutions. Local-first forensics keep marginal cost near zero: we pay for tokens only when the court speaks.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67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A703B76-DF7B-4553-8A4C-05A4D28F6C9B}"/>
              </a:ext>
            </a:extLst>
          </p:cNvPr>
          <p:cNvSpPr/>
          <p:nvPr/>
        </p:nvSpPr>
        <p:spPr>
          <a:xfrm>
            <a:off x="63055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HONEST RECORD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What it cannot do — yet.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25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IT CANNOT DO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25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Text and language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the classifier is trained on English-labelled SMS corpora; local slang beyond that leans on pattern rules.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Anatomy, not reputation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links are judged offline by structure; domain age and live lookups are not consulted.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compiled voice when offline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without a model service the speeches are assembled, not drafted. The trial completes; the prose is plainer.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Advice, never action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GAVEL blocks nothing and contacts no one. The decision stays where it belongs.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B92EF3-4CA4-46F6-8914-B90D3BD97C00}"/>
              </a:ext>
            </a:extLst>
          </p:cNvPr>
          <p:cNvSpPr txBox="1"/>
          <p:nvPr/>
        </p:nvSpPr>
        <p:spPr>
          <a:xfrm>
            <a:off x="65913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COMES NEXT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6C0BB6B-2BCF-4054-AB60-C6BBD4564790}"/>
              </a:ext>
            </a:extLst>
          </p:cNvPr>
          <p:cNvSpPr txBox="1"/>
          <p:nvPr/>
        </p:nvSpPr>
        <p:spPr>
          <a:xfrm>
            <a:off x="65913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public-record check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domain and phone reputation, consulted with consent, filed as one more exhibit.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More local voices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Bahasa Malaysia and regional scam corpora, contributed with consent.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deeper school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case law that grows from real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Limits are docketed, not hidden — uncertainty goes to a hung jury, never to a confident guess.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6E1A41AD-975D-40F0-B81C-49D24BE0ED0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763000" y="1524000"/>
            <a:ext cx="2667000" cy="266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23A8F2E-9863-480B-8048-AE4FF5DEC9C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LIVE DEMO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09EA177-2224-4251-9ED8-A2FD058C4FD1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The courtroom is open.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3A30F7E-3E78-4B9F-AD29-9697E39D3307}"/>
              </a:ext>
            </a:extLst>
          </p:cNvPr>
          <p:cNvSpPr txBox="1"/>
          <p:nvPr/>
        </p:nvSpPr>
        <p:spPr>
          <a:xfrm>
            <a:off x="666750" y="2000250"/>
            <a:ext cx="5334000" cy="51435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7C1D17"/>
                </a:solidFill>
                <a:latin typeface="Courier New"/>
                <a:ea typeface="Courier New"/>
              </a:rPr>
              <a:t>gavel-liard.vercel.app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D0A9D3-DE73-49C3-85F3-D42982CE2518}"/>
              </a:ext>
            </a:extLst>
          </p:cNvPr>
          <p:cNvSpPr txBox="1"/>
          <p:nvPr/>
        </p:nvSpPr>
        <p:spPr>
          <a:xfrm>
            <a:off x="666750" y="29527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Scan the code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, or type the address. Nothing to install.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Pick a case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from the docket — or bring your own suspicious message.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Judge it yourself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— watch the reads, exhibits and speeches, then swing the gavel.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BC17686-2517-4854-93F0-A0EC50634B45}"/>
              </a:ext>
            </a:extLst>
          </p:cNvPr>
          <p:cNvSpPr txBox="1"/>
          <p:nvPr/>
        </p:nvSpPr>
        <p:spPr>
          <a:xfrm>
            <a:off x="666750" y="5810250"/>
            <a:ext cx="53340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Judging a case takes about a minute. The court remembers every 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00561A7-8966-48B1-BC72-EC80C14E03A3}"/>
              </a:ext>
            </a:extLst>
          </p:cNvPr>
          <p:cNvSpPr txBox="1"/>
          <p:nvPr/>
        </p:nvSpPr>
        <p:spPr>
          <a:xfrm>
            <a:off x="8286750" y="4305300"/>
            <a:ext cx="3619500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Scan to open GAVEL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E7590E8-7D70-4694-AFAD-FD09130ECBE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12 / 12</a:t>
            </a:r>
          </a:p>
        </p:txBody>
      </p:sp>
      <p:pic>
        <p:nvPicPr>
          <p:cNvPr id="12" name="GAVEL-demo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854696" y="4553712"/>
            <a:ext cx="3337560" cy="18745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