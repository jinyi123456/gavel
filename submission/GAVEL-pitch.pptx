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19"/>
    <p:sldId id="263" r:id="rId9"/>
    <p:sldId id="264" r:id="rId10"/>
    <p:sldId id="265" r:id="rId11"/>
    <p:sldId id="274" r:id="rId15"/>
    <p:sldId id="270" r:id="rId16"/>
    <p:sldId id="271" r:id="rId17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9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0:00–0:08 — GAVEL. Every scam gets a fair trial. The AI investigates; you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0:08–0:33 — Scams are won in moments of decision. Detectors return a score; we hand the person a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0:33–0:58 — One metaphor: exhibits, prosecutor, defence, clerk — and the gavel stays with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0:58–1:18 — Five steps. No account, no install, works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1:18–1:43 — The tools are deterministic and run first; the agents argue over a fixed record. They cannot choose what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1:43–2:03 — The gate checks every quote character-for-character; failed drafts never reach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2:03–2:25 — Held-out numbers, reproduced by the repo's 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2:25–2:37 — Local mode: nothing leaves the device; identifiers masked before sharing.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2:37–2:49 — Law School turns cases into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2:49–3:04 — Who pays: the family buyer and the institution. Bottom-up sizing; assumptions stated as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3:04–3:22 — Limits docketed: English corpus, anatomy not reputation, advice never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3:22–5:00 — Play the embedded film (1:33), then point at the URL. If behind schedule, skip the film and run one live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5,160 deduplicated SMS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 and reads the strongest exhibits. The tools ran first — deterministically, before any officer speaks.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09BF468-97E8-4567-9E4A-969AA3115176}"/>
              </a:ext>
            </a:extLst>
          </p:cNvPr>
          <p:cNvSpPr/>
          <p:nvPr/>
        </p:nvSpPr>
        <p:spPr>
          <a:xfrm>
            <a:off x="1181100" y="2171700"/>
            <a:ext cx="9829800" cy="2495550"/>
          </a:xfrm>
          <a:prstGeom prst="roundRect">
            <a:avLst/>
          </a:prstGeom>
          <a:solidFill>
            <a:srgbClr val="ECE1C9"/>
          </a:solidFill>
          <a:ln w="12700">
            <a:solidFill>
              <a:srgbClr val="A8823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BCD7F44-E846-41A4-A0BF-34EB627355B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47800" y="2438400"/>
            <a:ext cx="9296400" cy="196215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A1253B8A-D205-4CC0-A9E1-0774A822B3C7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4253829-FBC8-4560-866A-3B00C2E5380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AEB7F26-C888-4D01-B2F9-A157ECC9804B}"/>
              </a:ext>
            </a:extLst>
          </p:cNvPr>
          <p:cNvSpPr txBox="1"/>
          <p:nvPr/>
        </p:nvSpPr>
        <p:spPr>
          <a:xfrm>
            <a:off x="666750" y="17716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43BD412-1105-4AE6-8463-2509BBBB5AB9}"/>
              </a:ext>
            </a:extLst>
          </p:cNvPr>
          <p:cNvSpPr txBox="1"/>
          <p:nvPr/>
        </p:nvSpPr>
        <p:spPr>
          <a:xfrm>
            <a:off x="1333500" y="481965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6A1FC39-2447-48A9-8AB7-782650CFC55E}"/>
              </a:ext>
            </a:extLst>
          </p:cNvPr>
          <p:cNvSpPr txBox="1"/>
          <p:nvPr/>
        </p:nvSpPr>
        <p:spPr>
          <a:xfrm>
            <a:off x="666750" y="520065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ABBD78F-A755-42DE-9265-EBC71605EBA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5,160 dedup.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BUSINESS</a:t>
            </a: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Who pays, and why it holds.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Trust is the moat — the product is auditable by the person who pays for it.</a:t>
            </a:r>
          </a:p>
        </p:txBody>
      </p:sp>
      <p:sp>
        <p:nvSpPr>
          <p:cNvPr id="5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12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7512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0976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WHO PAYS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0976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The family buyer — the person who forwards the parcel SMS to the group chat — at RM4.90 a month. And the bank, telco or e-wallet that would rather prevent a transfer than reverse one.</a:t>
            </a: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4361688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4645151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MARKET · BOTTOM-UP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4645151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8.0M Malaysian households × RM4.90/month ≈ RM470M/year consumer TAM. 27 banks, 5 telcos, 10 e-wallets × a RM250k pilot ≈ RM10M/year initial institutional segment. Assumptions, not forecasts.</a:t>
            </a:r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8055864" y="1810512"/>
            <a:ext cx="3474720" cy="4096512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8339328" y="2039112"/>
            <a:ext cx="2907792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MODEL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8339328" y="2395728"/>
            <a:ext cx="2907792" cy="3236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>
                <a:solidFill>
                  <a:srgbClr val="6A5A44"/>
                </a:solidFill>
                <a:latin typeface="Segoe UI"/>
                <a:ea typeface="Segoe UI"/>
              </a:rPr>
              <a:t>Free single cases. A RM4.90/month family plan. White-label licence and per-case API for institutions. Local-first forensics keep marginal cost near zero: we pay for tokens only when the court speaks.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67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A703B76-DF7B-4553-8A4C-05A4D28F6C9B}"/>
              </a:ext>
            </a:extLst>
          </p:cNvPr>
          <p:cNvSpPr/>
          <p:nvPr/>
        </p:nvSpPr>
        <p:spPr>
          <a:xfrm>
            <a:off x="63055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HONEST RECORD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What it cannot do — yet.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25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IT CANNOT DO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25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Text and language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the classifier is trained on English-labelled SMS corpora; local slang beyond that leans on pattern rules.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Anatomy, not reputation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links are judged offline by structure; domain age and live lookups are not consulted.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compiled voice when offline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without a model service the speeches are assembled, not drafted. The trial completes; the prose is plainer.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Advice, never action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GAVEL blocks nothing and contacts no one. The decision stays where it belongs.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B92EF3-4CA4-46F6-8914-B90D3BD97C00}"/>
              </a:ext>
            </a:extLst>
          </p:cNvPr>
          <p:cNvSpPr txBox="1"/>
          <p:nvPr/>
        </p:nvSpPr>
        <p:spPr>
          <a:xfrm>
            <a:off x="65913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COMES NEXT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6C0BB6B-2BCF-4054-AB60-C6BBD4564790}"/>
              </a:ext>
            </a:extLst>
          </p:cNvPr>
          <p:cNvSpPr txBox="1"/>
          <p:nvPr/>
        </p:nvSpPr>
        <p:spPr>
          <a:xfrm>
            <a:off x="65913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public-record check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domain and phone reputation, consulted with consent, filed as one more exhibit.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More local voices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Bahasa Malaysia and regional scam corpora, contributed with consent.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deeper school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case law that grows from real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Limits are docketed, not hidden — uncertainty goes to a hung jury, never to a confident guess.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6E1A41AD-975D-40F0-B81C-49D24BE0ED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3A8F2E-9863-480B-8048-AE4FF5DEC9C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9EA177-2224-4251-9ED8-A2FD058C4FD1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3A30F7E-3E78-4B9F-AD29-9697E39D3307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0A9D3-DE73-49C3-85F3-D42982CE2518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BC17686-2517-4854-93F0-A0EC50634B45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0561A7-8966-48B1-BC72-EC80C14E03A3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590E8-7D70-4694-AFAD-FD09130ECBE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12 / 12</a:t>
            </a:r>
          </a:p>
        </p:txBody>
      </p:sp>
      <p:pic>
        <p:nvPicPr>
          <p:cNvPr id="12" name="GAVEL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854696" y="4553712"/>
            <a:ext cx="3337560" cy="18745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