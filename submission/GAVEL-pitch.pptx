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3" r:id="rId19"/>
    <p:sldId id="263" r:id="rId9"/>
    <p:sldId id="264" r:id="rId10"/>
    <p:sldId id="265" r:id="rId11"/>
    <p:sldId id="274" r:id="rId15"/>
    <p:sldId id="270" r:id="rId16"/>
    <p:sldId id="271" r:id="rId17"/>
  </p:sldIdLst>
  <p:sldSz cx="12192000" cy="6858000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9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0:00–0:08 — GAVEL. Every scam gets a fair trial. The AI investigates; you judge.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0:08–0:33 — Scams are won in moments of decision. Detectors return a score; we hand the person a trial.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0:33–0:58 — One metaphor: exhibits, prosecutor, defence, clerk — and the gavel stays with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0:58–1:18 — Five steps. No account, no install, works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1:18–1:43 — The tools are deterministic and run first; the agents argue over a fixed record. They cannot choose what to inspect.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1:43–2:03 — The gate checks every quote character-for-character; failed drafts never reach the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2:03–2:25 — Held-out numbers, reproduced by the repo's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2:25–2:37 — Local mode: nothing leaves the device; identifiers masked before sharing.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2:37–2:49 — Law School turns cases into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2:49–3:04 — Who pays: the family buyer and the institution. Bottom-up sizing; assumptions stated as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3:04–3:22 — Limits docketed: English corpus, anatomy not reputation, advice never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3:22–5:00 — Play the embedded film (1:33), then point at the URL. If behind schedule, skip the film and run one live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3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4.png"/><Relationship Id="rId3" Type="http://schemas.openxmlformats.org/officeDocument/2006/relationships/image" Target="../media/merged5.png"/><Relationship Id="rId4" Type="http://schemas.microsoft.com/office/2007/relationships/media" Target="../media/media1.mp4"/><Relationship Id="rId5" Type="http://schemas.openxmlformats.org/officeDocument/2006/relationships/video" Target="../media/media1.mp4"/><Relationship Id="rId6" Type="http://schemas.openxmlformats.org/officeDocument/2006/relationships/image" Target="../media/image1.png"/><Relationship Id="rId7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F9622CC8-5CD5-45BF-A151-60B8171A201F}"/>
              </a:ext>
            </a:extLst>
          </p:cNvPr>
          <p:cNvSpPr/>
          <p:nvPr/>
        </p:nvSpPr>
        <p:spPr>
          <a:xfrm>
            <a:off x="0" y="6438900"/>
            <a:ext cx="12192000" cy="57150"/>
          </a:xfrm>
          <a:prstGeom prst="rect">
            <a:avLst/>
          </a:prstGeom>
          <a:solidFill>
            <a:srgbClr val="A8823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89BE5E7-4FEC-4421-8064-6775CD2F51A0}"/>
              </a:ext>
            </a:extLst>
          </p:cNvPr>
          <p:cNvSpPr/>
          <p:nvPr/>
        </p:nvSpPr>
        <p:spPr>
          <a:xfrm>
            <a:off x="0" y="6496050"/>
            <a:ext cx="12192000" cy="361950"/>
          </a:xfrm>
          <a:prstGeom prst="rect">
            <a:avLst/>
          </a:prstGeom>
          <a:solidFill>
            <a:srgbClr val="1D140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986D6E7-CE10-4F32-9C20-8EA2DA3AE36A}"/>
              </a:ext>
            </a:extLst>
          </p:cNvPr>
          <p:cNvSpPr/>
          <p:nvPr/>
        </p:nvSpPr>
        <p:spPr>
          <a:xfrm>
            <a:off x="9010650" y="1257300"/>
            <a:ext cx="2457450" cy="1600200"/>
          </a:xfrm>
          <a:prstGeom prst="roundRect">
            <a:avLst/>
          </a:prstGeom>
          <a:solidFill>
            <a:srgbClr val="2C2012"/>
          </a:solidFill>
          <a:ln w="38100">
            <a:solidFill>
              <a:srgbClr val="B8433A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4400" b="1">
                <a:solidFill>
                  <a:srgbClr val="B8433A"/>
                </a:solidFill>
                <a:latin typeface="Courier New"/>
                <a:ea typeface="Courier New"/>
              </a:rPr>
              <a:t>GUILTY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BF381DA-F5B6-4302-8C05-0C51699FB8CB}"/>
              </a:ext>
            </a:extLst>
          </p:cNvPr>
          <p:cNvSpPr txBox="1"/>
          <p:nvPr/>
        </p:nvSpPr>
        <p:spPr>
          <a:xfrm>
            <a:off x="914400" y="838200"/>
            <a:ext cx="6858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A8823A"/>
                </a:solidFill>
                <a:latin typeface="Courier New"/>
                <a:ea typeface="Courier New"/>
              </a:rPr>
              <a:t>AN AGENTIC COURTROOM FOR SCAM DEFENCE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A9966E8-9EE3-49E0-A831-029491BF166E}"/>
              </a:ext>
            </a:extLst>
          </p:cNvPr>
          <p:cNvSpPr txBox="1"/>
          <p:nvPr/>
        </p:nvSpPr>
        <p:spPr>
          <a:xfrm>
            <a:off x="876300" y="1571625"/>
            <a:ext cx="8001000" cy="1562100"/>
          </a:xfrm>
        </p:spPr>
        <p:txBody>
          <a:bodyPr wrap="square" rtlCol="0" lIns="0" tIns="0" rIns="0" bIns="0" anchor="t"/>
          <a:lstStyle/>
          <a:p>
            <a:pPr algn="l"/>
            <a:r>
              <a:rPr sz="8800" b="1">
                <a:solidFill>
                  <a:srgbClr val="F4EAD2"/>
                </a:solidFill>
                <a:latin typeface="Georgia"/>
                <a:ea typeface="Georgia"/>
              </a:rPr>
              <a:t>G A V E L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218E70D9-532F-4C93-84CA-212E72F09333}"/>
              </a:ext>
            </a:extLst>
          </p:cNvPr>
          <p:cNvSpPr/>
          <p:nvPr/>
        </p:nvSpPr>
        <p:spPr>
          <a:xfrm>
            <a:off x="914400" y="3390900"/>
            <a:ext cx="4953000" cy="19050"/>
          </a:xfrm>
          <a:prstGeom prst="rect">
            <a:avLst/>
          </a:prstGeom>
          <a:solidFill>
            <a:srgbClr val="A8823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9714E37-5A4D-430A-9EAD-A885CA096466}"/>
              </a:ext>
            </a:extLst>
          </p:cNvPr>
          <p:cNvSpPr txBox="1"/>
          <p:nvPr/>
        </p:nvSpPr>
        <p:spPr>
          <a:xfrm>
            <a:off x="914400" y="3638550"/>
            <a:ext cx="7905750" cy="590550"/>
          </a:xfrm>
        </p:spPr>
        <p:txBody>
          <a:bodyPr wrap="square" rtlCol="0" lIns="0" tIns="0" rIns="0" bIns="0" anchor="t"/>
          <a:lstStyle/>
          <a:p>
            <a:pPr algn="l"/>
            <a:r>
              <a:rPr sz="3400" i="1">
                <a:solidFill>
                  <a:srgbClr val="E6D7B2"/>
                </a:solidFill>
                <a:latin typeface="Georgia"/>
                <a:ea typeface="Georgia"/>
              </a:rPr>
              <a:t>Every scam gets a fair trial.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812EB55-B4A3-4348-B45C-5F87AD8E9790}"/>
              </a:ext>
            </a:extLst>
          </p:cNvPr>
          <p:cNvSpPr txBox="1"/>
          <p:nvPr/>
        </p:nvSpPr>
        <p:spPr>
          <a:xfrm>
            <a:off x="914400" y="4400550"/>
            <a:ext cx="6667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600">
                <a:solidFill>
                  <a:srgbClr val="A08E6C"/>
                </a:solidFill>
                <a:latin typeface="Segoe UI"/>
                <a:ea typeface="Segoe UI"/>
              </a:rPr>
              <a:t>The AI investigates. You judge.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8BE52E3-E708-4A12-84F8-6716390C18C0}"/>
              </a:ext>
            </a:extLst>
          </p:cNvPr>
          <p:cNvSpPr txBox="1"/>
          <p:nvPr/>
        </p:nvSpPr>
        <p:spPr>
          <a:xfrm>
            <a:off x="914400" y="5867400"/>
            <a:ext cx="5334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7A5C"/>
                </a:solidFill>
                <a:latin typeface="Courier New"/>
                <a:ea typeface="Courier New"/>
              </a:rPr>
              <a:t>HOKKIEN MEE IS RED  ·  GAVEL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00A7D3CB-C724-4F77-8083-2D18D8FA4A96}"/>
              </a:ext>
            </a:extLst>
          </p:cNvPr>
          <p:cNvSpPr/>
          <p:nvPr/>
        </p:nvSpPr>
        <p:spPr>
          <a:xfrm>
            <a:off x="666750" y="2000250"/>
            <a:ext cx="3409950" cy="2857500"/>
          </a:xfrm>
          <a:prstGeom prst="roundRect">
            <a:avLst/>
          </a:prstGeom>
          <a:solidFill>
            <a:srgbClr val="FAF4E4"/>
          </a:solidFill>
          <a:ln w="12700">
            <a:solidFill>
              <a:srgbClr val="DDCDA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6479E4A-30B6-45E0-869F-A4F78613532C}"/>
              </a:ext>
            </a:extLst>
          </p:cNvPr>
          <p:cNvSpPr/>
          <p:nvPr/>
        </p:nvSpPr>
        <p:spPr>
          <a:xfrm>
            <a:off x="4391025" y="2000250"/>
            <a:ext cx="3409950" cy="2857500"/>
          </a:xfrm>
          <a:prstGeom prst="roundRect">
            <a:avLst/>
          </a:prstGeom>
          <a:solidFill>
            <a:srgbClr val="FAF4E4"/>
          </a:solidFill>
          <a:ln w="12700">
            <a:solidFill>
              <a:srgbClr val="DDCDA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8F51882-DEFD-4A5C-AA6F-F0334A83E429}"/>
              </a:ext>
            </a:extLst>
          </p:cNvPr>
          <p:cNvSpPr/>
          <p:nvPr/>
        </p:nvSpPr>
        <p:spPr>
          <a:xfrm>
            <a:off x="8115300" y="2000250"/>
            <a:ext cx="3409950" cy="2857500"/>
          </a:xfrm>
          <a:prstGeom prst="roundRect">
            <a:avLst/>
          </a:prstGeom>
          <a:solidFill>
            <a:srgbClr val="FAF4E4"/>
          </a:solidFill>
          <a:ln w="12700">
            <a:solidFill>
              <a:srgbClr val="DDCDA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FADFE23-7617-4DC5-A2C4-4E3EF7A1FF87}"/>
              </a:ext>
            </a:extLst>
          </p:cNvPr>
          <p:cNvSpPr txBox="1"/>
          <p:nvPr/>
        </p:nvSpPr>
        <p:spPr>
          <a:xfrm>
            <a:off x="666750" y="49530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A8823A"/>
                </a:solidFill>
                <a:latin typeface="Courier New"/>
                <a:ea typeface="Courier New"/>
              </a:rPr>
              <a:t>THE PROBLEM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51D8501-A288-4371-AC1E-686145FE6837}"/>
              </a:ext>
            </a:extLst>
          </p:cNvPr>
          <p:cNvSpPr txBox="1"/>
          <p:nvPr/>
        </p:nvSpPr>
        <p:spPr>
          <a:xfrm>
            <a:off x="666750" y="762000"/>
            <a:ext cx="10477500" cy="62865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241C12"/>
                </a:solidFill>
                <a:latin typeface="Georgia"/>
                <a:ea typeface="Georgia"/>
              </a:rPr>
              <a:t>Scams are won in moments of decision.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7936902-C2C0-434F-867B-679CE8E509AF}"/>
              </a:ext>
            </a:extLst>
          </p:cNvPr>
          <p:cNvSpPr txBox="1"/>
          <p:nvPr/>
        </p:nvSpPr>
        <p:spPr>
          <a:xfrm>
            <a:off x="895350" y="2266950"/>
            <a:ext cx="295275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241C12"/>
                </a:solidFill>
                <a:latin typeface="Georgia"/>
                <a:ea typeface="Georgia"/>
              </a:rPr>
              <a:t>Seconds, engineered.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0B7162A-7888-4D9F-B088-9770530641BE}"/>
              </a:ext>
            </a:extLst>
          </p:cNvPr>
          <p:cNvSpPr txBox="1"/>
          <p:nvPr/>
        </p:nvSpPr>
        <p:spPr>
          <a:xfrm>
            <a:off x="895350" y="2762250"/>
            <a:ext cx="2952750" cy="1905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6A5A44"/>
                </a:solidFill>
                <a:latin typeface="Segoe UI"/>
                <a:ea typeface="Segoe UI"/>
              </a:rPr>
              <a:t>A parcel-fee SMS, a bank alert, a job offer. The moment of decision is short — and every second of it is built against the person holding the phone.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E333FB1-3C81-4F6E-9E31-7B2B63B1B435}"/>
              </a:ext>
            </a:extLst>
          </p:cNvPr>
          <p:cNvSpPr txBox="1"/>
          <p:nvPr/>
        </p:nvSpPr>
        <p:spPr>
          <a:xfrm>
            <a:off x="4619625" y="2266950"/>
            <a:ext cx="295275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241C12"/>
                </a:solidFill>
                <a:latin typeface="Georgia"/>
                <a:ea typeface="Georgia"/>
              </a:rPr>
              <a:t>Scores, not verdicts.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8F9C2CC-83BD-4B8C-AAA4-27DDBEC41A46}"/>
              </a:ext>
            </a:extLst>
          </p:cNvPr>
          <p:cNvSpPr txBox="1"/>
          <p:nvPr/>
        </p:nvSpPr>
        <p:spPr>
          <a:xfrm>
            <a:off x="4619625" y="2762250"/>
            <a:ext cx="2952750" cy="1905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6A5A44"/>
                </a:solidFill>
                <a:latin typeface="Segoe UI"/>
                <a:ea typeface="Segoe UI"/>
              </a:rPr>
              <a:t>Detectors return a number and call it an answer. They never show their working, and they never let you see why.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844517B-A629-4481-ACFD-0BB4E11FCB50}"/>
              </a:ext>
            </a:extLst>
          </p:cNvPr>
          <p:cNvSpPr txBox="1"/>
          <p:nvPr/>
        </p:nvSpPr>
        <p:spPr>
          <a:xfrm>
            <a:off x="8343900" y="2266950"/>
            <a:ext cx="295275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241C12"/>
                </a:solidFill>
                <a:latin typeface="Georgia"/>
                <a:ea typeface="Georgia"/>
              </a:rPr>
              <a:t>Never 'probably' safe.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CD7E78D-D395-4061-AC3F-AB9A3FF21E00}"/>
              </a:ext>
            </a:extLst>
          </p:cNvPr>
          <p:cNvSpPr txBox="1"/>
          <p:nvPr/>
        </p:nvSpPr>
        <p:spPr>
          <a:xfrm>
            <a:off x="8343900" y="2762250"/>
            <a:ext cx="2952750" cy="1905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6A5A44"/>
                </a:solidFill>
                <a:latin typeface="Segoe UI"/>
                <a:ea typeface="Segoe UI"/>
              </a:rPr>
              <a:t>Honest bills, delivery notices and bank alerts arrive every day — and get counted as risk alongside the scams.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5D544A2-AF72-4BE8-8932-0C15ED2DC1EF}"/>
              </a:ext>
            </a:extLst>
          </p:cNvPr>
          <p:cNvSpPr txBox="1"/>
          <p:nvPr/>
        </p:nvSpPr>
        <p:spPr>
          <a:xfrm>
            <a:off x="666750" y="5524500"/>
            <a:ext cx="10858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6A5A44"/>
                </a:solidFill>
                <a:latin typeface="Courier New"/>
                <a:ea typeface="Courier New"/>
              </a:rPr>
              <a:t>Today's defences answer the wrong question: 'is this on a blocklist?' — never 'what should I do, right now?'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1FE4955-C108-4CEE-B7ED-E22097C7613A}"/>
              </a:ext>
            </a:extLst>
          </p:cNvPr>
          <p:cNvSpPr txBox="1"/>
          <p:nvPr/>
        </p:nvSpPr>
        <p:spPr>
          <a:xfrm>
            <a:off x="10953750" y="6381750"/>
            <a:ext cx="66675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100">
                <a:solidFill>
                  <a:srgbClr val="A08E6C"/>
                </a:solidFill>
                <a:latin typeface="Courier New"/>
                <a:ea typeface="Courier New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A5001256-8952-4F86-B99B-A147F04D474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477000" y="1809750"/>
            <a:ext cx="5048250" cy="3419475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AA335E3F-6289-4860-A552-179DAE2DC6C5}"/>
              </a:ext>
            </a:extLst>
          </p:cNvPr>
          <p:cNvSpPr txBox="1"/>
          <p:nvPr/>
        </p:nvSpPr>
        <p:spPr>
          <a:xfrm>
            <a:off x="666750" y="49530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A8823A"/>
                </a:solidFill>
                <a:latin typeface="Courier New"/>
                <a:ea typeface="Courier New"/>
              </a:rPr>
              <a:t>THE IDEA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9B1FFFA-0A10-4581-A00F-CC16F3D6AE77}"/>
              </a:ext>
            </a:extLst>
          </p:cNvPr>
          <p:cNvSpPr txBox="1"/>
          <p:nvPr/>
        </p:nvSpPr>
        <p:spPr>
          <a:xfrm>
            <a:off x="666750" y="762000"/>
            <a:ext cx="10477500" cy="62865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241C12"/>
                </a:solidFill>
                <a:latin typeface="Georgia"/>
                <a:ea typeface="Georgia"/>
              </a:rPr>
              <a:t>A courtroom, not a scanner.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268D97D-AF9A-480C-90AD-03ED54A6EC7A}"/>
              </a:ext>
            </a:extLst>
          </p:cNvPr>
          <p:cNvSpPr txBox="1"/>
          <p:nvPr/>
        </p:nvSpPr>
        <p:spPr>
          <a:xfrm>
            <a:off x="666750" y="1905000"/>
            <a:ext cx="5334000" cy="990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241C12"/>
                </a:solidFill>
                <a:latin typeface="Segoe UI"/>
                <a:ea typeface="Segoe UI"/>
              </a:rPr>
              <a:t>Anything suspicious — a message, a link, a QR code, a document, a voice note — is booked as a case and put on trial.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CF6FB93-68AA-4498-A042-E7F4B2699BB7}"/>
              </a:ext>
            </a:extLst>
          </p:cNvPr>
          <p:cNvSpPr txBox="1"/>
          <p:nvPr/>
        </p:nvSpPr>
        <p:spPr>
          <a:xfrm>
            <a:off x="666750" y="3143250"/>
            <a:ext cx="5334000" cy="2476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350" b="1">
                <a:solidFill>
                  <a:srgbClr val="241C12"/>
                </a:solidFill>
                <a:latin typeface="Segoe UI"/>
                <a:ea typeface="Segoe UI"/>
              </a:rPr>
              <a:t>The Prosecutor</a:t>
            </a:r>
            <a:r>
              <a:rPr sz="1350">
                <a:solidFill>
                  <a:srgbClr val="6A5A44"/>
                </a:solidFill>
                <a:latin typeface="Segoe UI"/>
                <a:ea typeface="Segoe UI"/>
              </a:rPr>
              <a:t> files numbered exhibits, pinned to the exact words that raised them.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350" b="1">
                <a:solidFill>
                  <a:srgbClr val="241C12"/>
                </a:solidFill>
                <a:latin typeface="Segoe UI"/>
                <a:ea typeface="Segoe UI"/>
              </a:rPr>
              <a:t>The Defence</a:t>
            </a:r>
            <a:r>
              <a:rPr sz="1350">
                <a:solidFill>
                  <a:srgbClr val="6A5A44"/>
                </a:solidFill>
                <a:latin typeface="Segoe UI"/>
                <a:ea typeface="Segoe UI"/>
              </a:rPr>
              <a:t> argues the benign reading — the brand's real domain, the shape of a genuine notice.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350" b="1">
                <a:solidFill>
                  <a:srgbClr val="241C12"/>
                </a:solidFill>
                <a:latin typeface="Segoe UI"/>
                <a:ea typeface="Segoe UI"/>
              </a:rPr>
              <a:t>The Clerk</a:t>
            </a:r>
            <a:r>
              <a:rPr sz="1350">
                <a:solidFill>
                  <a:srgbClr val="6A5A44"/>
                </a:solidFill>
                <a:latin typeface="Segoe UI"/>
                <a:ea typeface="Segoe UI"/>
              </a:rPr>
              <a:t> writes the bench memo — charge, evidence, counter-evidence, honest confidence.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D66415E-20CB-4290-B1E2-D0243C92B537}"/>
              </a:ext>
            </a:extLst>
          </p:cNvPr>
          <p:cNvSpPr txBox="1"/>
          <p:nvPr/>
        </p:nvSpPr>
        <p:spPr>
          <a:xfrm>
            <a:off x="666750" y="5810250"/>
            <a:ext cx="53340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7C1D17"/>
                </a:solidFill>
                <a:latin typeface="Courier New"/>
                <a:ea typeface="Courier New"/>
              </a:rPr>
              <a:t>GUILTY · ACQUITTED · HUNG JURY — then the gavel is yours.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825222D-5F39-433A-BF0A-8C975D18A2A5}"/>
              </a:ext>
            </a:extLst>
          </p:cNvPr>
          <p:cNvSpPr txBox="1"/>
          <p:nvPr/>
        </p:nvSpPr>
        <p:spPr>
          <a:xfrm>
            <a:off x="6477000" y="5381625"/>
            <a:ext cx="504825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150">
                <a:solidFill>
                  <a:srgbClr val="A08E6C"/>
                </a:solidFill>
                <a:latin typeface="Courier New"/>
                <a:ea typeface="Courier New"/>
              </a:rPr>
              <a:t>The gavel zone — the verdict is yours to swing.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39B50CF-C245-4E84-B3B0-2F5F4240FB42}"/>
              </a:ext>
            </a:extLst>
          </p:cNvPr>
          <p:cNvSpPr txBox="1"/>
          <p:nvPr/>
        </p:nvSpPr>
        <p:spPr>
          <a:xfrm>
            <a:off x="10953750" y="6381750"/>
            <a:ext cx="66675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100">
                <a:solidFill>
                  <a:srgbClr val="A08E6C"/>
                </a:solidFill>
                <a:latin typeface="Courier New"/>
                <a:ea typeface="Courier New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DD3EF613-BDFC-470F-95A9-164E3B3F2D0D}"/>
              </a:ext>
            </a:extLst>
          </p:cNvPr>
          <p:cNvSpPr/>
          <p:nvPr/>
        </p:nvSpPr>
        <p:spPr>
          <a:xfrm>
            <a:off x="1238250" y="2676525"/>
            <a:ext cx="9715500" cy="19050"/>
          </a:xfrm>
          <a:prstGeom prst="rect">
            <a:avLst/>
          </a:prstGeom>
          <a:solidFill>
            <a:srgbClr val="A8823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C7E303BD-5F69-4C3A-BDE0-926C296724D8}"/>
              </a:ext>
            </a:extLst>
          </p:cNvPr>
          <p:cNvSpPr/>
          <p:nvPr/>
        </p:nvSpPr>
        <p:spPr>
          <a:xfrm>
            <a:off x="933450" y="2381250"/>
            <a:ext cx="609600" cy="609600"/>
          </a:xfrm>
          <a:prstGeom prst="ellipse">
            <a:avLst/>
          </a:prstGeom>
          <a:solidFill>
            <a:srgbClr val="7C1D1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18C01FA-B006-49BD-8EF0-82573607DC13}"/>
              </a:ext>
            </a:extLst>
          </p:cNvPr>
          <p:cNvSpPr/>
          <p:nvPr/>
        </p:nvSpPr>
        <p:spPr>
          <a:xfrm>
            <a:off x="3362325" y="2381250"/>
            <a:ext cx="609600" cy="609600"/>
          </a:xfrm>
          <a:prstGeom prst="ellipse">
            <a:avLst/>
          </a:prstGeom>
          <a:solidFill>
            <a:srgbClr val="7C1D1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2EE8B2C-B957-4FFA-A569-8869E4A2C076}"/>
              </a:ext>
            </a:extLst>
          </p:cNvPr>
          <p:cNvSpPr/>
          <p:nvPr/>
        </p:nvSpPr>
        <p:spPr>
          <a:xfrm>
            <a:off x="5791200" y="2381250"/>
            <a:ext cx="609600" cy="609600"/>
          </a:xfrm>
          <a:prstGeom prst="ellipse">
            <a:avLst/>
          </a:prstGeom>
          <a:solidFill>
            <a:srgbClr val="7C1D1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5A84828-AF02-4F78-960F-CDE06EF4E984}"/>
              </a:ext>
            </a:extLst>
          </p:cNvPr>
          <p:cNvSpPr/>
          <p:nvPr/>
        </p:nvSpPr>
        <p:spPr>
          <a:xfrm>
            <a:off x="8220075" y="2381250"/>
            <a:ext cx="609600" cy="609600"/>
          </a:xfrm>
          <a:prstGeom prst="ellipse">
            <a:avLst/>
          </a:prstGeom>
          <a:solidFill>
            <a:srgbClr val="7C1D1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81BF691-C9FC-41C9-8538-03222142FECA}"/>
              </a:ext>
            </a:extLst>
          </p:cNvPr>
          <p:cNvSpPr/>
          <p:nvPr/>
        </p:nvSpPr>
        <p:spPr>
          <a:xfrm>
            <a:off x="10648950" y="2381250"/>
            <a:ext cx="609600" cy="609600"/>
          </a:xfrm>
          <a:prstGeom prst="ellipse">
            <a:avLst/>
          </a:prstGeom>
          <a:solidFill>
            <a:srgbClr val="7C1D1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DE11634-4C64-4EBE-8251-05F573D1B852}"/>
              </a:ext>
            </a:extLst>
          </p:cNvPr>
          <p:cNvSpPr txBox="1"/>
          <p:nvPr/>
        </p:nvSpPr>
        <p:spPr>
          <a:xfrm>
            <a:off x="666750" y="49530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A8823A"/>
                </a:solidFill>
                <a:latin typeface="Courier New"/>
                <a:ea typeface="Courier New"/>
              </a:rPr>
              <a:t>THE TRIAL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89184EE-A434-42F4-9765-FB02FAC04F0C}"/>
              </a:ext>
            </a:extLst>
          </p:cNvPr>
          <p:cNvSpPr txBox="1"/>
          <p:nvPr/>
        </p:nvSpPr>
        <p:spPr>
          <a:xfrm>
            <a:off x="666750" y="762000"/>
            <a:ext cx="10477500" cy="62865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241C12"/>
                </a:solidFill>
                <a:latin typeface="Georgia"/>
                <a:ea typeface="Georgia"/>
              </a:rPr>
              <a:t>Five steps, one courtroom.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E62EC17-309C-485F-BE6E-08B2A6246290}"/>
              </a:ext>
            </a:extLst>
          </p:cNvPr>
          <p:cNvSpPr txBox="1"/>
          <p:nvPr/>
        </p:nvSpPr>
        <p:spPr>
          <a:xfrm>
            <a:off x="933450" y="2533650"/>
            <a:ext cx="609600" cy="304800"/>
          </a:xfrm>
        </p:spPr>
        <p:txBody>
          <a:bodyPr wrap="square" rtlCol="0" lIns="0" tIns="0" rIns="0" bIns="0" anchor="t"/>
          <a:lstStyle/>
          <a:p>
            <a:pPr algn="ctr"/>
            <a:r>
              <a:rPr sz="1800" b="1">
                <a:solidFill>
                  <a:srgbClr val="FAF4E4"/>
                </a:solidFill>
                <a:latin typeface="Georgia"/>
                <a:ea typeface="Georgia"/>
              </a:rPr>
              <a:t>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8126886-6E1E-4E48-9EA3-B8FDB0968903}"/>
              </a:ext>
            </a:extLst>
          </p:cNvPr>
          <p:cNvSpPr txBox="1"/>
          <p:nvPr/>
        </p:nvSpPr>
        <p:spPr>
          <a:xfrm>
            <a:off x="3362325" y="2533650"/>
            <a:ext cx="609600" cy="304800"/>
          </a:xfrm>
        </p:spPr>
        <p:txBody>
          <a:bodyPr wrap="square" rtlCol="0" lIns="0" tIns="0" rIns="0" bIns="0" anchor="t"/>
          <a:lstStyle/>
          <a:p>
            <a:pPr algn="ctr"/>
            <a:r>
              <a:rPr sz="1800" b="1">
                <a:solidFill>
                  <a:srgbClr val="FAF4E4"/>
                </a:solidFill>
                <a:latin typeface="Georgia"/>
                <a:ea typeface="Georgia"/>
              </a:rPr>
              <a:t>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E4B6CA5-43D8-44CD-AB5D-13C74A59BC4A}"/>
              </a:ext>
            </a:extLst>
          </p:cNvPr>
          <p:cNvSpPr txBox="1"/>
          <p:nvPr/>
        </p:nvSpPr>
        <p:spPr>
          <a:xfrm>
            <a:off x="5791200" y="2533650"/>
            <a:ext cx="609600" cy="304800"/>
          </a:xfrm>
        </p:spPr>
        <p:txBody>
          <a:bodyPr wrap="square" rtlCol="0" lIns="0" tIns="0" rIns="0" bIns="0" anchor="t"/>
          <a:lstStyle/>
          <a:p>
            <a:pPr algn="ctr"/>
            <a:r>
              <a:rPr sz="1800" b="1">
                <a:solidFill>
                  <a:srgbClr val="FAF4E4"/>
                </a:solidFill>
                <a:latin typeface="Georgia"/>
                <a:ea typeface="Georgia"/>
              </a:rPr>
              <a:t>3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A0AAB86-3917-42E8-9D8B-EEF50DEA8707}"/>
              </a:ext>
            </a:extLst>
          </p:cNvPr>
          <p:cNvSpPr txBox="1"/>
          <p:nvPr/>
        </p:nvSpPr>
        <p:spPr>
          <a:xfrm>
            <a:off x="8220075" y="2533650"/>
            <a:ext cx="609600" cy="304800"/>
          </a:xfrm>
        </p:spPr>
        <p:txBody>
          <a:bodyPr wrap="square" rtlCol="0" lIns="0" tIns="0" rIns="0" bIns="0" anchor="t"/>
          <a:lstStyle/>
          <a:p>
            <a:pPr algn="ctr"/>
            <a:r>
              <a:rPr sz="1800" b="1">
                <a:solidFill>
                  <a:srgbClr val="FAF4E4"/>
                </a:solidFill>
                <a:latin typeface="Georgia"/>
                <a:ea typeface="Georgia"/>
              </a:rPr>
              <a:t>4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E6D15F7-2FAE-4E6D-8E45-418518097DE2}"/>
              </a:ext>
            </a:extLst>
          </p:cNvPr>
          <p:cNvSpPr txBox="1"/>
          <p:nvPr/>
        </p:nvSpPr>
        <p:spPr>
          <a:xfrm>
            <a:off x="10648950" y="2533650"/>
            <a:ext cx="609600" cy="304800"/>
          </a:xfrm>
        </p:spPr>
        <p:txBody>
          <a:bodyPr wrap="square" rtlCol="0" lIns="0" tIns="0" rIns="0" bIns="0" anchor="t"/>
          <a:lstStyle/>
          <a:p>
            <a:pPr algn="ctr"/>
            <a:r>
              <a:rPr sz="1800" b="1">
                <a:solidFill>
                  <a:srgbClr val="FAF4E4"/>
                </a:solidFill>
                <a:latin typeface="Georgia"/>
                <a:ea typeface="Georgia"/>
              </a:rPr>
              <a:t>5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0D3E403-4234-465A-ACB9-09A86E5EEE8D}"/>
              </a:ext>
            </a:extLst>
          </p:cNvPr>
          <p:cNvSpPr txBox="1"/>
          <p:nvPr/>
        </p:nvSpPr>
        <p:spPr>
          <a:xfrm>
            <a:off x="285750" y="3286125"/>
            <a:ext cx="190500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600" b="1">
                <a:solidFill>
                  <a:srgbClr val="241C12"/>
                </a:solidFill>
                <a:latin typeface="Georgia"/>
                <a:ea typeface="Georgia"/>
              </a:rPr>
              <a:t>Book a case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B25024E-23CA-4A78-A756-C2157AD980CA}"/>
              </a:ext>
            </a:extLst>
          </p:cNvPr>
          <p:cNvSpPr txBox="1"/>
          <p:nvPr/>
        </p:nvSpPr>
        <p:spPr>
          <a:xfrm>
            <a:off x="285750" y="3609975"/>
            <a:ext cx="1905000" cy="12382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20000"/>
              </a:lnSpc>
            </a:pPr>
            <a:r>
              <a:rPr sz="1150">
                <a:solidFill>
                  <a:srgbClr val="6A5A44"/>
                </a:solidFill>
                <a:latin typeface="Segoe UI"/>
                <a:ea typeface="Segoe UI"/>
              </a:rPr>
              <a:t>Paste a message, upload a file, scan a QR code — or speak it.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F86F637-93EE-45DD-B9CB-243E847D781F}"/>
              </a:ext>
            </a:extLst>
          </p:cNvPr>
          <p:cNvSpPr txBox="1"/>
          <p:nvPr/>
        </p:nvSpPr>
        <p:spPr>
          <a:xfrm>
            <a:off x="2714625" y="3286125"/>
            <a:ext cx="190500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600" b="1">
                <a:solidFill>
                  <a:srgbClr val="241C12"/>
                </a:solidFill>
                <a:latin typeface="Georgia"/>
                <a:ea typeface="Georgia"/>
              </a:rPr>
              <a:t>Exhibits filed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8A7CF15-F0E5-4E4A-ABA0-27FC901300E4}"/>
              </a:ext>
            </a:extLst>
          </p:cNvPr>
          <p:cNvSpPr txBox="1"/>
          <p:nvPr/>
        </p:nvSpPr>
        <p:spPr>
          <a:xfrm>
            <a:off x="2714625" y="3609975"/>
            <a:ext cx="1905000" cy="12382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20000"/>
              </a:lnSpc>
            </a:pPr>
            <a:r>
              <a:rPr sz="1150">
                <a:solidFill>
                  <a:srgbClr val="6A5A44"/>
                </a:solidFill>
                <a:latin typeface="Segoe UI"/>
                <a:ea typeface="Segoe UI"/>
              </a:rPr>
              <a:t>Numbered findings, each quoted back to your own words.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BA5C4C0-D406-47F2-8661-273F77155C57}"/>
              </a:ext>
            </a:extLst>
          </p:cNvPr>
          <p:cNvSpPr txBox="1"/>
          <p:nvPr/>
        </p:nvSpPr>
        <p:spPr>
          <a:xfrm>
            <a:off x="5143500" y="3286125"/>
            <a:ext cx="190500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600" b="1">
                <a:solidFill>
                  <a:srgbClr val="241C12"/>
                </a:solidFill>
                <a:latin typeface="Georgia"/>
                <a:ea typeface="Georgia"/>
              </a:rPr>
              <a:t>Officers speak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FA9C79BA-ADAD-43FC-8235-96C2A5B697E9}"/>
              </a:ext>
            </a:extLst>
          </p:cNvPr>
          <p:cNvSpPr txBox="1"/>
          <p:nvPr/>
        </p:nvSpPr>
        <p:spPr>
          <a:xfrm>
            <a:off x="5143500" y="3609975"/>
            <a:ext cx="1905000" cy="12382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20000"/>
              </a:lnSpc>
            </a:pPr>
            <a:r>
              <a:rPr sz="1150">
                <a:solidFill>
                  <a:srgbClr val="6A5A44"/>
                </a:solidFill>
                <a:latin typeface="Segoe UI"/>
                <a:ea typeface="Segoe UI"/>
              </a:rPr>
              <a:t>Prosecutor, defence and clerk — every line checked against the record.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F387624-A02B-4FEC-8908-9B940083CC8C}"/>
              </a:ext>
            </a:extLst>
          </p:cNvPr>
          <p:cNvSpPr txBox="1"/>
          <p:nvPr/>
        </p:nvSpPr>
        <p:spPr>
          <a:xfrm>
            <a:off x="7572375" y="3286125"/>
            <a:ext cx="190500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600" b="1">
                <a:solidFill>
                  <a:srgbClr val="241C12"/>
                </a:solidFill>
                <a:latin typeface="Georgia"/>
                <a:ea typeface="Georgia"/>
              </a:rPr>
              <a:t>Swing the gavel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4E89A0F-43D4-442B-9E1F-F7DDBED8FAE7}"/>
              </a:ext>
            </a:extLst>
          </p:cNvPr>
          <p:cNvSpPr txBox="1"/>
          <p:nvPr/>
        </p:nvSpPr>
        <p:spPr>
          <a:xfrm>
            <a:off x="7572375" y="3609975"/>
            <a:ext cx="1905000" cy="12382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20000"/>
              </a:lnSpc>
            </a:pPr>
            <a:r>
              <a:rPr sz="1150">
                <a:solidFill>
                  <a:srgbClr val="6A5A44"/>
                </a:solidFill>
                <a:latin typeface="Segoe UI"/>
                <a:ea typeface="Segoe UI"/>
              </a:rPr>
              <a:t>GUILTY, ACQUITTED, or HUNG JURY when the evidence cannot decide.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8EE6EC9-03A7-41E8-9AD3-46C9257EEB4C}"/>
              </a:ext>
            </a:extLst>
          </p:cNvPr>
          <p:cNvSpPr txBox="1"/>
          <p:nvPr/>
        </p:nvSpPr>
        <p:spPr>
          <a:xfrm>
            <a:off x="10001250" y="3286125"/>
            <a:ext cx="190500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600" b="1">
                <a:solidFill>
                  <a:srgbClr val="241C12"/>
                </a:solidFill>
                <a:latin typeface="Georgia"/>
                <a:ea typeface="Georgia"/>
              </a:rPr>
              <a:t>The sentence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2045591-E68A-48AB-A07F-8C61D8A2819D}"/>
              </a:ext>
            </a:extLst>
          </p:cNvPr>
          <p:cNvSpPr txBox="1"/>
          <p:nvPr/>
        </p:nvSpPr>
        <p:spPr>
          <a:xfrm>
            <a:off x="10001250" y="3609975"/>
            <a:ext cx="1905000" cy="12382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20000"/>
              </a:lnSpc>
            </a:pPr>
            <a:r>
              <a:rPr sz="1150">
                <a:solidFill>
                  <a:srgbClr val="6A5A44"/>
                </a:solidFill>
                <a:latin typeface="Segoe UI"/>
                <a:ea typeface="Segoe UI"/>
              </a:rPr>
              <a:t>Next-five-minutes checklist, a cooling clock, redacted alerts.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FEC510D-7541-4FB0-8CFD-A4D11F4CAF1F}"/>
              </a:ext>
            </a:extLst>
          </p:cNvPr>
          <p:cNvSpPr txBox="1"/>
          <p:nvPr/>
        </p:nvSpPr>
        <p:spPr>
          <a:xfrm>
            <a:off x="1333500" y="5334000"/>
            <a:ext cx="952500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250">
                <a:solidFill>
                  <a:srgbClr val="6A5A44"/>
                </a:solidFill>
                <a:latin typeface="Courier New"/>
                <a:ea typeface="Courier New"/>
              </a:rPr>
              <a:t>No account. No install. The court convenes in your browser — with or without a network.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7B1C366B-E829-44A5-9873-A76445E0F53E}"/>
              </a:ext>
            </a:extLst>
          </p:cNvPr>
          <p:cNvSpPr txBox="1"/>
          <p:nvPr/>
        </p:nvSpPr>
        <p:spPr>
          <a:xfrm>
            <a:off x="10953750" y="6381750"/>
            <a:ext cx="66675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100">
                <a:solidFill>
                  <a:srgbClr val="A08E6C"/>
                </a:solidFill>
                <a:latin typeface="Courier New"/>
                <a:ea typeface="Courier New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F3B071FD-7A65-48B2-B27C-7B2310851555}"/>
              </a:ext>
            </a:extLst>
          </p:cNvPr>
          <p:cNvSpPr/>
          <p:nvPr/>
        </p:nvSpPr>
        <p:spPr>
          <a:xfrm>
            <a:off x="666750" y="1809750"/>
            <a:ext cx="5219700" cy="3829050"/>
          </a:xfrm>
          <a:prstGeom prst="roundRect">
            <a:avLst/>
          </a:prstGeom>
          <a:solidFill>
            <a:srgbClr val="FAF4E4"/>
          </a:solidFill>
          <a:ln w="12700">
            <a:solidFill>
              <a:srgbClr val="DDCDA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7E199D7-C126-462A-BF7F-462342782B24}"/>
              </a:ext>
            </a:extLst>
          </p:cNvPr>
          <p:cNvSpPr/>
          <p:nvPr/>
        </p:nvSpPr>
        <p:spPr>
          <a:xfrm>
            <a:off x="6305550" y="1809750"/>
            <a:ext cx="5219700" cy="3829050"/>
          </a:xfrm>
          <a:prstGeom prst="roundRect">
            <a:avLst/>
          </a:prstGeom>
          <a:solidFill>
            <a:srgbClr val="FAF4E4"/>
          </a:solidFill>
          <a:ln w="12700">
            <a:solidFill>
              <a:srgbClr val="DDCDA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D3C4C12-A242-4706-A7F2-52D99C5C1EAA}"/>
              </a:ext>
            </a:extLst>
          </p:cNvPr>
          <p:cNvSpPr txBox="1"/>
          <p:nvPr/>
        </p:nvSpPr>
        <p:spPr>
          <a:xfrm>
            <a:off x="666750" y="495300"/>
            <a:ext cx="5715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A8823A"/>
                </a:solidFill>
                <a:latin typeface="Courier New"/>
                <a:ea typeface="Courier New"/>
              </a:rPr>
              <a:t>THE ENGINE AND THE OFFICERS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CDA4DEE-2C74-439C-8773-E6A7D6202ECA}"/>
              </a:ext>
            </a:extLst>
          </p:cNvPr>
          <p:cNvSpPr txBox="1"/>
          <p:nvPr/>
        </p:nvSpPr>
        <p:spPr>
          <a:xfrm>
            <a:off x="666750" y="762000"/>
            <a:ext cx="10477500" cy="62865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241C12"/>
                </a:solidFill>
                <a:latin typeface="Georgia"/>
                <a:ea typeface="Georgia"/>
              </a:rPr>
              <a:t>Three readers, three officers.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F171512-1308-43B4-9568-B5A63C4D7EFD}"/>
              </a:ext>
            </a:extLst>
          </p:cNvPr>
          <p:cNvSpPr txBox="1"/>
          <p:nvPr/>
        </p:nvSpPr>
        <p:spPr>
          <a:xfrm>
            <a:off x="952500" y="2038350"/>
            <a:ext cx="285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7C1D17"/>
                </a:solidFill>
                <a:latin typeface="Courier New"/>
                <a:ea typeface="Courier New"/>
              </a:rPr>
              <a:t>THE ENGINE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3A9DCB0-D235-47D6-A652-A9C840D7B908}"/>
              </a:ext>
            </a:extLst>
          </p:cNvPr>
          <p:cNvSpPr txBox="1"/>
          <p:nvPr/>
        </p:nvSpPr>
        <p:spPr>
          <a:xfrm>
            <a:off x="952500" y="2400300"/>
            <a:ext cx="4648200" cy="304800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18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6A5A44"/>
                </a:solidFill>
                <a:latin typeface="Segoe UI"/>
                <a:ea typeface="Segoe UI"/>
              </a:rPr>
              <a:t>A text classifier trained and calibrated on 5,574 labelled messages.</a:t>
            </a:r>
          </a:p>
          <a:p>
            <a:pPr marL="228600" indent="-228600" algn="l">
              <a:lnSpc>
                <a:spcPct val="118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6A5A44"/>
                </a:solidFill>
                <a:latin typeface="Segoe UI"/>
                <a:ea typeface="Segoe UI"/>
              </a:rPr>
              <a:t>Offline URL anatomy — homoglyphs, subdomain chains, credentials in the URL, shorteners.</a:t>
            </a:r>
          </a:p>
          <a:p>
            <a:pPr marL="228600" indent="-228600" algn="l">
              <a:lnSpc>
                <a:spcPct val="118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6A5A44"/>
                </a:solidFill>
                <a:latin typeface="Segoe UI"/>
                <a:ea typeface="Segoe UI"/>
              </a:rPr>
              <a:t>QR decode: where the code actually goes, before you tap.</a:t>
            </a:r>
          </a:p>
          <a:p>
            <a:pPr marL="228600" indent="-228600" algn="l">
              <a:lnSpc>
                <a:spcPct val="118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6A5A44"/>
                </a:solidFill>
                <a:latin typeface="Segoe UI"/>
                <a:ea typeface="Segoe UI"/>
              </a:rPr>
              <a:t>Document and voice intake — text is extracted, never executed.</a:t>
            </a:r>
          </a:p>
          <a:p>
            <a:pPr marL="228600" indent="-228600" algn="l">
              <a:lnSpc>
                <a:spcPct val="118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6A5A44"/>
                </a:solidFill>
                <a:latin typeface="Segoe UI"/>
                <a:ea typeface="Segoe UI"/>
              </a:rPr>
              <a:t>Deterministic triage runs first, with zero network.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D0FDCD9-DAB2-49EC-ABBF-FEAD0D3CA3A8}"/>
              </a:ext>
            </a:extLst>
          </p:cNvPr>
          <p:cNvSpPr txBox="1"/>
          <p:nvPr/>
        </p:nvSpPr>
        <p:spPr>
          <a:xfrm>
            <a:off x="6591300" y="2038350"/>
            <a:ext cx="285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7C1D17"/>
                </a:solidFill>
                <a:latin typeface="Courier New"/>
                <a:ea typeface="Courier New"/>
              </a:rPr>
              <a:t>THE OFFICERS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C6B5BE5-F216-4D13-BEBE-4311FD061DD9}"/>
              </a:ext>
            </a:extLst>
          </p:cNvPr>
          <p:cNvSpPr txBox="1"/>
          <p:nvPr/>
        </p:nvSpPr>
        <p:spPr>
          <a:xfrm>
            <a:off x="6591300" y="2400300"/>
            <a:ext cx="4648200" cy="304800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18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6A5A44"/>
                </a:solidFill>
                <a:latin typeface="Segoe UI"/>
                <a:ea typeface="Segoe UI"/>
              </a:rPr>
              <a:t>The Prosecutor opens the case and reads the strongest exhibits. The tools ran first — deterministically, before any officer speaks.</a:t>
            </a:r>
          </a:p>
          <a:p>
            <a:pPr marL="228600" indent="-228600" algn="l">
              <a:lnSpc>
                <a:spcPct val="118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6A5A44"/>
                </a:solidFill>
                <a:latin typeface="Segoe UI"/>
                <a:ea typeface="Segoe UI"/>
              </a:rPr>
              <a:t>The Defence argues the benign reading — the brand's real domain; the honest notice.</a:t>
            </a:r>
          </a:p>
          <a:p>
            <a:pPr marL="228600" indent="-228600" algn="l">
              <a:lnSpc>
                <a:spcPct val="118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6A5A44"/>
                </a:solidFill>
                <a:latin typeface="Segoe UI"/>
                <a:ea typeface="Segoe UI"/>
              </a:rPr>
              <a:t>The Clerk writes the bench memo: charge, evidence, counter-evidence, honest confidence band.</a:t>
            </a:r>
          </a:p>
          <a:p>
            <a:pPr marL="228600" indent="-228600" algn="l">
              <a:lnSpc>
                <a:spcPct val="118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6A5A44"/>
                </a:solidFill>
                <a:latin typeface="Segoe UI"/>
                <a:ea typeface="Segoe UI"/>
              </a:rPr>
              <a:t>Every drafted speech passes a verification gate before it may speak.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244827F-0A31-4987-8FCD-9F6F1F427A31}"/>
              </a:ext>
            </a:extLst>
          </p:cNvPr>
          <p:cNvSpPr txBox="1"/>
          <p:nvPr/>
        </p:nvSpPr>
        <p:spPr>
          <a:xfrm>
            <a:off x="666750" y="5905500"/>
            <a:ext cx="10858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6A5A44"/>
                </a:solidFill>
                <a:latin typeface="Courier New"/>
                <a:ea typeface="Courier New"/>
              </a:rPr>
              <a:t>One engine, two implementations — the Python training pipeline and the live TypeScript runtime are parity-tested.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C22BA1B-5C8A-4959-BFD4-56ABB480C851}"/>
              </a:ext>
            </a:extLst>
          </p:cNvPr>
          <p:cNvSpPr txBox="1"/>
          <p:nvPr/>
        </p:nvSpPr>
        <p:spPr>
          <a:xfrm>
            <a:off x="10953750" y="6381750"/>
            <a:ext cx="66675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100">
                <a:solidFill>
                  <a:srgbClr val="A08E6C"/>
                </a:solidFill>
                <a:latin typeface="Courier New"/>
                <a:ea typeface="Courier New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09BF468-97E8-4567-9E4A-969AA3115176}"/>
              </a:ext>
            </a:extLst>
          </p:cNvPr>
          <p:cNvSpPr/>
          <p:nvPr/>
        </p:nvSpPr>
        <p:spPr>
          <a:xfrm>
            <a:off x="1181100" y="2171700"/>
            <a:ext cx="9829800" cy="2495550"/>
          </a:xfrm>
          <a:prstGeom prst="roundRect">
            <a:avLst/>
          </a:prstGeom>
          <a:solidFill>
            <a:srgbClr val="ECE1C9"/>
          </a:solidFill>
          <a:ln w="12700">
            <a:solidFill>
              <a:srgbClr val="A882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BCD7F44-E846-41A4-A0BF-34EB627355B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47800" y="2438400"/>
            <a:ext cx="9296400" cy="196215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A1253B8A-D205-4CC0-A9E1-0774A822B3C7}"/>
              </a:ext>
            </a:extLst>
          </p:cNvPr>
          <p:cNvSpPr txBox="1"/>
          <p:nvPr/>
        </p:nvSpPr>
        <p:spPr>
          <a:xfrm>
            <a:off x="666750" y="495300"/>
            <a:ext cx="5715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A8823A"/>
                </a:solidFill>
                <a:latin typeface="Courier New"/>
                <a:ea typeface="Courier New"/>
              </a:rPr>
              <a:t>THE VERIFICATION GATE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4253829-FBC8-4560-866A-3B00C2E53803}"/>
              </a:ext>
            </a:extLst>
          </p:cNvPr>
          <p:cNvSpPr txBox="1"/>
          <p:nvPr/>
        </p:nvSpPr>
        <p:spPr>
          <a:xfrm>
            <a:off x="666750" y="762000"/>
            <a:ext cx="10477500" cy="62865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F4EAD2"/>
                </a:solidFill>
                <a:latin typeface="Georgia"/>
                <a:ea typeface="Georgia"/>
              </a:rPr>
              <a:t>Every word on screen is sourced.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AEB7F26-C888-4D01-B2F9-A157ECC9804B}"/>
              </a:ext>
            </a:extLst>
          </p:cNvPr>
          <p:cNvSpPr txBox="1"/>
          <p:nvPr/>
        </p:nvSpPr>
        <p:spPr>
          <a:xfrm>
            <a:off x="666750" y="1771650"/>
            <a:ext cx="10858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E6D7B2"/>
                </a:solidFill>
                <a:latin typeface="Segoe UI"/>
                <a:ea typeface="Segoe UI"/>
              </a:rPr>
              <a:t>Every quoted word in a drafted speech must exist character-for-character in the court record.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43BD412-1105-4AE6-8463-2509BBBB5AB9}"/>
              </a:ext>
            </a:extLst>
          </p:cNvPr>
          <p:cNvSpPr txBox="1"/>
          <p:nvPr/>
        </p:nvSpPr>
        <p:spPr>
          <a:xfrm>
            <a:off x="1333500" y="4819650"/>
            <a:ext cx="952500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200">
                <a:solidFill>
                  <a:srgbClr val="A08E6C"/>
                </a:solidFill>
                <a:latin typeface="Courier New"/>
                <a:ea typeface="Courier New"/>
              </a:rPr>
              <a:t>Exhibit A — quoted back onto the message itself, character for character.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6A1FC39-2447-48A9-8AB7-782650CFC55E}"/>
              </a:ext>
            </a:extLst>
          </p:cNvPr>
          <p:cNvSpPr txBox="1"/>
          <p:nvPr/>
        </p:nvSpPr>
        <p:spPr>
          <a:xfrm>
            <a:off x="666750" y="5200650"/>
            <a:ext cx="10858500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E6D7B2"/>
                </a:solidFill>
                <a:latin typeface="Segoe UI"/>
                <a:ea typeface="Segoe UI"/>
              </a:rPr>
              <a:t>A draft that invents evidence is discarded — fabricated quotes reach the screen zero times, by construction. No model? Offline, rate-limited, or failing the gate, the scripted bench compiles the officers' arguments deterministically from the exhibits — the courtroom completes every trial.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ABBD78F-A755-42DE-9265-EBC71605EBA4}"/>
              </a:ext>
            </a:extLst>
          </p:cNvPr>
          <p:cNvSpPr txBox="1"/>
          <p:nvPr/>
        </p:nvSpPr>
        <p:spPr>
          <a:xfrm>
            <a:off x="10953750" y="6381750"/>
            <a:ext cx="66675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100">
                <a:solidFill>
                  <a:srgbClr val="A08E6C"/>
                </a:solidFill>
                <a:latin typeface="Courier New"/>
                <a:ea typeface="Courier New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A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55039CD1-FBE6-4CD0-91CB-6C0D663A8C6E}"/>
              </a:ext>
            </a:extLst>
          </p:cNvPr>
          <p:cNvSpPr/>
          <p:nvPr/>
        </p:nvSpPr>
        <p:spPr>
          <a:xfrm>
            <a:off x="571500" y="1905000"/>
            <a:ext cx="2057400" cy="2571750"/>
          </a:xfrm>
          <a:prstGeom prst="roundRect">
            <a:avLst/>
          </a:prstGeom>
          <a:solidFill>
            <a:srgbClr val="FAF4E4"/>
          </a:solidFill>
          <a:ln w="12700">
            <a:solidFill>
              <a:srgbClr val="DDCDA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CF662C77-92B9-4152-8A71-1A19D409F91B}"/>
              </a:ext>
            </a:extLst>
          </p:cNvPr>
          <p:cNvSpPr/>
          <p:nvPr/>
        </p:nvSpPr>
        <p:spPr>
          <a:xfrm>
            <a:off x="2819400" y="1905000"/>
            <a:ext cx="2057400" cy="2571750"/>
          </a:xfrm>
          <a:prstGeom prst="roundRect">
            <a:avLst/>
          </a:prstGeom>
          <a:solidFill>
            <a:srgbClr val="FAF4E4"/>
          </a:solidFill>
          <a:ln w="12700">
            <a:solidFill>
              <a:srgbClr val="DDCDA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B6FDA71A-8E08-4D04-980D-15F62744895D}"/>
              </a:ext>
            </a:extLst>
          </p:cNvPr>
          <p:cNvSpPr/>
          <p:nvPr/>
        </p:nvSpPr>
        <p:spPr>
          <a:xfrm>
            <a:off x="5067300" y="1905000"/>
            <a:ext cx="2057400" cy="2571750"/>
          </a:xfrm>
          <a:prstGeom prst="roundRect">
            <a:avLst/>
          </a:prstGeom>
          <a:solidFill>
            <a:srgbClr val="FAF4E4"/>
          </a:solidFill>
          <a:ln w="12700">
            <a:solidFill>
              <a:srgbClr val="DDCDA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513D077-107F-4F2A-A155-0D7E692BAA05}"/>
              </a:ext>
            </a:extLst>
          </p:cNvPr>
          <p:cNvSpPr/>
          <p:nvPr/>
        </p:nvSpPr>
        <p:spPr>
          <a:xfrm>
            <a:off x="7315200" y="1905000"/>
            <a:ext cx="2057400" cy="2571750"/>
          </a:xfrm>
          <a:prstGeom prst="roundRect">
            <a:avLst/>
          </a:prstGeom>
          <a:solidFill>
            <a:srgbClr val="FAF4E4"/>
          </a:solidFill>
          <a:ln w="12700">
            <a:solidFill>
              <a:srgbClr val="DDCDA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00F37A8F-243F-46C3-B5C1-3C79EBA32783}"/>
              </a:ext>
            </a:extLst>
          </p:cNvPr>
          <p:cNvSpPr/>
          <p:nvPr/>
        </p:nvSpPr>
        <p:spPr>
          <a:xfrm>
            <a:off x="9563100" y="1905000"/>
            <a:ext cx="2057400" cy="2571750"/>
          </a:xfrm>
          <a:prstGeom prst="roundRect">
            <a:avLst/>
          </a:prstGeom>
          <a:solidFill>
            <a:srgbClr val="FAF4E4"/>
          </a:solidFill>
          <a:ln w="12700">
            <a:solidFill>
              <a:srgbClr val="DDCDA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6C74BDA-FB2B-42F7-BC50-A5FB3923332D}"/>
              </a:ext>
            </a:extLst>
          </p:cNvPr>
          <p:cNvSpPr txBox="1"/>
          <p:nvPr/>
        </p:nvSpPr>
        <p:spPr>
          <a:xfrm>
            <a:off x="571500" y="495300"/>
            <a:ext cx="5715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A8823A"/>
                </a:solidFill>
                <a:latin typeface="Courier New"/>
                <a:ea typeface="Courier New"/>
              </a:rPr>
              <a:t>MEASURED NUMBERS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1852193-27A6-4F4B-A62D-9A7CE110B9AF}"/>
              </a:ext>
            </a:extLst>
          </p:cNvPr>
          <p:cNvSpPr txBox="1"/>
          <p:nvPr/>
        </p:nvSpPr>
        <p:spPr>
          <a:xfrm>
            <a:off x="571500" y="762000"/>
            <a:ext cx="10477500" cy="62865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241C12"/>
                </a:solidFill>
                <a:latin typeface="Georgia"/>
                <a:ea typeface="Georgia"/>
              </a:rPr>
              <a:t>Measured, not promised.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3D60DF6-327C-444D-8CCE-2C80D71A26F7}"/>
              </a:ext>
            </a:extLst>
          </p:cNvPr>
          <p:cNvSpPr txBox="1"/>
          <p:nvPr/>
        </p:nvSpPr>
        <p:spPr>
          <a:xfrm>
            <a:off x="723900" y="2266950"/>
            <a:ext cx="17526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7C1D17"/>
                </a:solidFill>
                <a:latin typeface="Georgia"/>
                <a:ea typeface="Georgia"/>
              </a:rPr>
              <a:t>0.9990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1168690-28D2-41FE-BCCB-A76E183D5FE3}"/>
              </a:ext>
            </a:extLst>
          </p:cNvPr>
          <p:cNvSpPr txBox="1"/>
          <p:nvPr/>
        </p:nvSpPr>
        <p:spPr>
          <a:xfrm>
            <a:off x="723900" y="2895600"/>
            <a:ext cx="17526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A8823A"/>
                </a:solidFill>
                <a:latin typeface="Courier New"/>
                <a:ea typeface="Courier New"/>
              </a:rPr>
              <a:t>HELD-OUT AUC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3AD9D01-E0FF-48FB-A9CB-8BC8F441FC06}"/>
              </a:ext>
            </a:extLst>
          </p:cNvPr>
          <p:cNvSpPr txBox="1"/>
          <p:nvPr/>
        </p:nvSpPr>
        <p:spPr>
          <a:xfrm>
            <a:off x="723900" y="3181350"/>
            <a:ext cx="1752600" cy="1200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</a:pPr>
            <a:r>
              <a:rPr sz="1150">
                <a:solidFill>
                  <a:srgbClr val="6A5A44"/>
                </a:solidFill>
                <a:latin typeface="Segoe UI"/>
                <a:ea typeface="Segoe UI"/>
              </a:rPr>
              <a:t>classifier · UCI SMS Spam, 5,574 msgs · calibration error 0.0060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EC7120A-B780-462C-AED1-B76EB1C3B61D}"/>
              </a:ext>
            </a:extLst>
          </p:cNvPr>
          <p:cNvSpPr txBox="1"/>
          <p:nvPr/>
        </p:nvSpPr>
        <p:spPr>
          <a:xfrm>
            <a:off x="2971800" y="2266950"/>
            <a:ext cx="17526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7C1D17"/>
                </a:solidFill>
                <a:latin typeface="Georgia"/>
                <a:ea typeface="Georgia"/>
              </a:rPr>
              <a:t>96.8%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845A329-8189-4C28-862A-3B7900FF4257}"/>
              </a:ext>
            </a:extLst>
          </p:cNvPr>
          <p:cNvSpPr txBox="1"/>
          <p:nvPr/>
        </p:nvSpPr>
        <p:spPr>
          <a:xfrm>
            <a:off x="2971800" y="2895600"/>
            <a:ext cx="17526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A8823A"/>
                </a:solidFill>
                <a:latin typeface="Courier New"/>
                <a:ea typeface="Courier New"/>
              </a:rPr>
              <a:t>PRECISION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D09A542-C75A-43CF-914A-7CD2436B780F}"/>
              </a:ext>
            </a:extLst>
          </p:cNvPr>
          <p:cNvSpPr txBox="1"/>
          <p:nvPr/>
        </p:nvSpPr>
        <p:spPr>
          <a:xfrm>
            <a:off x="2971800" y="3181350"/>
            <a:ext cx="1752600" cy="1200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</a:pPr>
            <a:r>
              <a:rPr sz="1150">
                <a:solidFill>
                  <a:srgbClr val="6A5A44"/>
                </a:solidFill>
                <a:latin typeface="Segoe UI"/>
                <a:ea typeface="Segoe UI"/>
              </a:rPr>
              <a:t>shipped engine · 1,032 held-out messages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93294C5-D28C-469E-B0CC-7E3831126C4C}"/>
              </a:ext>
            </a:extLst>
          </p:cNvPr>
          <p:cNvSpPr txBox="1"/>
          <p:nvPr/>
        </p:nvSpPr>
        <p:spPr>
          <a:xfrm>
            <a:off x="5219700" y="2266950"/>
            <a:ext cx="17526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7C1D17"/>
                </a:solidFill>
                <a:latin typeface="Georgia"/>
                <a:ea typeface="Georgia"/>
              </a:rPr>
              <a:t>96.0%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35B1DFF-4E1C-498D-8E0B-964AE399FAB5}"/>
              </a:ext>
            </a:extLst>
          </p:cNvPr>
          <p:cNvSpPr txBox="1"/>
          <p:nvPr/>
        </p:nvSpPr>
        <p:spPr>
          <a:xfrm>
            <a:off x="5219700" y="2895600"/>
            <a:ext cx="17526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A8823A"/>
                </a:solidFill>
                <a:latin typeface="Courier New"/>
                <a:ea typeface="Courier New"/>
              </a:rPr>
              <a:t>SCAM RECALL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7C376C4-2813-42B0-AEF1-C61EFD5CFB16}"/>
              </a:ext>
            </a:extLst>
          </p:cNvPr>
          <p:cNvSpPr txBox="1"/>
          <p:nvPr/>
        </p:nvSpPr>
        <p:spPr>
          <a:xfrm>
            <a:off x="5219700" y="3181350"/>
            <a:ext cx="1752600" cy="1200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</a:pPr>
            <a:r>
              <a:rPr sz="1150">
                <a:solidFill>
                  <a:srgbClr val="6A5A44"/>
                </a:solidFill>
                <a:latin typeface="Segoe UI"/>
                <a:ea typeface="Segoe UI"/>
              </a:rPr>
              <a:t>shipped engine · 1,032 held-out messages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C673FD5-1879-405E-B1CA-C52D42DAFBF7}"/>
              </a:ext>
            </a:extLst>
          </p:cNvPr>
          <p:cNvSpPr txBox="1"/>
          <p:nvPr/>
        </p:nvSpPr>
        <p:spPr>
          <a:xfrm>
            <a:off x="7467600" y="2266950"/>
            <a:ext cx="17526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7C1D17"/>
                </a:solidFill>
                <a:latin typeface="Georgia"/>
                <a:ea typeface="Georgia"/>
              </a:rPr>
              <a:t>0.44%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D31B8FF-F5DF-4941-A8A6-E6F8D8E338FB}"/>
              </a:ext>
            </a:extLst>
          </p:cNvPr>
          <p:cNvSpPr txBox="1"/>
          <p:nvPr/>
        </p:nvSpPr>
        <p:spPr>
          <a:xfrm>
            <a:off x="7467600" y="2895600"/>
            <a:ext cx="17526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A8823A"/>
                </a:solidFill>
                <a:latin typeface="Courier New"/>
                <a:ea typeface="Courier New"/>
              </a:rPr>
              <a:t>FALSE ALARMS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F7DC6951-DD8E-4651-9FE0-B4F8EA9896CB}"/>
              </a:ext>
            </a:extLst>
          </p:cNvPr>
          <p:cNvSpPr txBox="1"/>
          <p:nvPr/>
        </p:nvSpPr>
        <p:spPr>
          <a:xfrm>
            <a:off x="7467600" y="3181350"/>
            <a:ext cx="1752600" cy="1200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</a:pPr>
            <a:r>
              <a:rPr sz="1150">
                <a:solidFill>
                  <a:srgbClr val="6A5A44"/>
                </a:solidFill>
                <a:latin typeface="Segoe UI"/>
                <a:ea typeface="Segoe UI"/>
              </a:rPr>
              <a:t>of genuine messages · 0.87% sent to hung jury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0D49B9E-5036-4C03-A1CA-6896AAA646AC}"/>
              </a:ext>
            </a:extLst>
          </p:cNvPr>
          <p:cNvSpPr txBox="1"/>
          <p:nvPr/>
        </p:nvSpPr>
        <p:spPr>
          <a:xfrm>
            <a:off x="9715500" y="2266950"/>
            <a:ext cx="17526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7C1D17"/>
                </a:solidFill>
                <a:latin typeface="Georgia"/>
                <a:ea typeface="Georgia"/>
              </a:rPr>
              <a:t>0.06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6B00EFE-EDA7-48B8-8F40-D2F180774AAC}"/>
              </a:ext>
            </a:extLst>
          </p:cNvPr>
          <p:cNvSpPr txBox="1"/>
          <p:nvPr/>
        </p:nvSpPr>
        <p:spPr>
          <a:xfrm>
            <a:off x="9715500" y="2895600"/>
            <a:ext cx="17526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A8823A"/>
                </a:solidFill>
                <a:latin typeface="Courier New"/>
                <a:ea typeface="Courier New"/>
              </a:rPr>
              <a:t>MS PER CASE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40C2F5E-3831-4FFF-B6E8-E1E53843D701}"/>
              </a:ext>
            </a:extLst>
          </p:cNvPr>
          <p:cNvSpPr txBox="1"/>
          <p:nvPr/>
        </p:nvSpPr>
        <p:spPr>
          <a:xfrm>
            <a:off x="9715500" y="3181350"/>
            <a:ext cx="1752600" cy="1200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</a:pPr>
            <a:r>
              <a:rPr sz="1150">
                <a:solidFill>
                  <a:srgbClr val="6A5A44"/>
                </a:solidFill>
                <a:latin typeface="Segoe UI"/>
                <a:ea typeface="Segoe UI"/>
              </a:rPr>
              <a:t>on device · every case, no network needed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26973A6B-3065-4D2A-A131-FAC6FCBC02D1}"/>
              </a:ext>
            </a:extLst>
          </p:cNvPr>
          <p:cNvSpPr txBox="1"/>
          <p:nvPr/>
        </p:nvSpPr>
        <p:spPr>
          <a:xfrm>
            <a:off x="571500" y="4857750"/>
            <a:ext cx="110490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6A5A44"/>
                </a:solidFill>
                <a:latin typeface="Segoe UI"/>
                <a:ea typeface="Segoe UI"/>
              </a:rPr>
              <a:t>24/24 authored golden cases pass in the shipped test suite · every published number is regenerated by the repository's own evaluation scripts.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FF5DDEB-F2AA-4FBA-9A1E-6180B6B3D912}"/>
              </a:ext>
            </a:extLst>
          </p:cNvPr>
          <p:cNvSpPr txBox="1"/>
          <p:nvPr/>
        </p:nvSpPr>
        <p:spPr>
          <a:xfrm>
            <a:off x="10953750" y="6381750"/>
            <a:ext cx="66675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100">
                <a:solidFill>
                  <a:srgbClr val="A08E6C"/>
                </a:solidFill>
                <a:latin typeface="Courier New"/>
                <a:ea typeface="Courier New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90E368E-98A4-45B1-889F-E31FA85ECAB7}"/>
              </a:ext>
            </a:extLst>
          </p:cNvPr>
          <p:cNvSpPr txBox="1"/>
          <p:nvPr/>
        </p:nvSpPr>
        <p:spPr>
          <a:xfrm>
            <a:off x="666750" y="49530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A8823A"/>
                </a:solidFill>
                <a:latin typeface="Courier New"/>
                <a:ea typeface="Courier New"/>
              </a:rPr>
              <a:t>PRIVACY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2069F13-717C-4962-95F2-50317002BC5B}"/>
              </a:ext>
            </a:extLst>
          </p:cNvPr>
          <p:cNvSpPr txBox="1"/>
          <p:nvPr/>
        </p:nvSpPr>
        <p:spPr>
          <a:xfrm>
            <a:off x="666750" y="762000"/>
            <a:ext cx="10858500" cy="62865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241C12"/>
                </a:solidFill>
                <a:latin typeface="Georgia"/>
                <a:ea typeface="Georgia"/>
              </a:rPr>
              <a:t>Nothing is blocked, sent, or filed without you.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AFD59B7-4A35-4A1E-995E-F284A845709F}"/>
              </a:ext>
            </a:extLst>
          </p:cNvPr>
          <p:cNvSpPr txBox="1"/>
          <p:nvPr/>
        </p:nvSpPr>
        <p:spPr>
          <a:xfrm>
            <a:off x="857250" y="2381250"/>
            <a:ext cx="1905000" cy="1390650"/>
          </a:xfrm>
        </p:spPr>
        <p:txBody>
          <a:bodyPr wrap="square" rtlCol="0" lIns="0" tIns="0" rIns="0" bIns="0" anchor="t"/>
          <a:lstStyle/>
          <a:p>
            <a:pPr algn="l"/>
            <a:r>
              <a:rPr sz="8000" b="1">
                <a:solidFill>
                  <a:srgbClr val="7C1D17"/>
                </a:solidFill>
                <a:latin typeface="Georgia"/>
                <a:ea typeface="Georgia"/>
              </a:rPr>
              <a:t>0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EE8637E-E793-41BD-BC2A-43F5F5AEC5C9}"/>
              </a:ext>
            </a:extLst>
          </p:cNvPr>
          <p:cNvSpPr txBox="1"/>
          <p:nvPr/>
        </p:nvSpPr>
        <p:spPr>
          <a:xfrm>
            <a:off x="857250" y="3905250"/>
            <a:ext cx="41910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6A5A44"/>
                </a:solidFill>
                <a:latin typeface="Segoe UI"/>
                <a:ea typeface="Segoe UI"/>
              </a:rPr>
              <a:t>messages leave the device in local mode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B2F48B9-0E53-42D0-9E52-03922F45CE34}"/>
              </a:ext>
            </a:extLst>
          </p:cNvPr>
          <p:cNvSpPr txBox="1"/>
          <p:nvPr/>
        </p:nvSpPr>
        <p:spPr>
          <a:xfrm>
            <a:off x="5334000" y="2381250"/>
            <a:ext cx="6191250" cy="2857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1800"/>
              </a:spcAft>
            </a:pPr>
            <a:r>
              <a:rPr sz="1450" b="1">
                <a:solidFill>
                  <a:srgbClr val="241C12"/>
                </a:solidFill>
                <a:latin typeface="Segoe UI"/>
                <a:ea typeface="Segoe UI"/>
              </a:rPr>
              <a:t>Local mode</a:t>
            </a:r>
            <a:r>
              <a:rPr sz="1350">
                <a:solidFill>
                  <a:srgbClr val="6A5A44"/>
                </a:solidFill>
                <a:latin typeface="Segoe UI"/>
                <a:ea typeface="Segoe UI"/>
              </a:rPr>
              <a:t> — the message never leaves the device. No upload, no network, no trace.</a:t>
            </a:r>
          </a:p>
          <a:p>
            <a:pPr algn="l">
              <a:lnSpc>
                <a:spcPct val="118000"/>
              </a:lnSpc>
              <a:spcAft>
                <a:spcPts val="1800"/>
              </a:spcAft>
            </a:pPr>
            <a:r>
              <a:rPr sz="1450" b="1">
                <a:solidFill>
                  <a:srgbClr val="241C12"/>
                </a:solidFill>
                <a:latin typeface="Segoe UI"/>
                <a:ea typeface="Segoe UI"/>
              </a:rPr>
              <a:t>Masked by default</a:t>
            </a:r>
            <a:r>
              <a:rPr sz="1350">
                <a:solidFill>
                  <a:srgbClr val="6A5A44"/>
                </a:solidFill>
                <a:latin typeface="Segoe UI"/>
                <a:ea typeface="Segoe UI"/>
              </a:rPr>
              <a:t> — personal identifiers are stripped before anything is shared, with you or with anyone you warn.</a:t>
            </a:r>
          </a:p>
          <a:p>
            <a:pPr algn="l">
              <a:lnSpc>
                <a:spcPct val="118000"/>
              </a:lnSpc>
              <a:spcAft>
                <a:spcPts val="1800"/>
              </a:spcAft>
            </a:pPr>
            <a:r>
              <a:rPr sz="1450" b="1">
                <a:solidFill>
                  <a:srgbClr val="241C12"/>
                </a:solidFill>
                <a:latin typeface="Segoe UI"/>
                <a:ea typeface="Segoe UI"/>
              </a:rPr>
              <a:t>Installs nothing</a:t>
            </a:r>
            <a:r>
              <a:rPr sz="1350">
                <a:solidFill>
                  <a:srgbClr val="6A5A44"/>
                </a:solidFill>
                <a:latin typeface="Segoe UI"/>
                <a:ea typeface="Segoe UI"/>
              </a:rPr>
              <a:t> — it runs on a free tier and keeps your archive in your own browser.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299A3DF-5E67-4CE2-839A-A70DABF0D08F}"/>
              </a:ext>
            </a:extLst>
          </p:cNvPr>
          <p:cNvSpPr txBox="1"/>
          <p:nvPr/>
        </p:nvSpPr>
        <p:spPr>
          <a:xfrm>
            <a:off x="666750" y="5905500"/>
            <a:ext cx="857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6A5A44"/>
                </a:solidFill>
                <a:latin typeface="Courier New"/>
                <a:ea typeface="Courier New"/>
              </a:rPr>
              <a:t>Privacy is the default — not a setting you have to find.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4FE9D54-EDCF-42C5-B325-0EE78DC293B4}"/>
              </a:ext>
            </a:extLst>
          </p:cNvPr>
          <p:cNvSpPr txBox="1"/>
          <p:nvPr/>
        </p:nvSpPr>
        <p:spPr>
          <a:xfrm>
            <a:off x="10953750" y="6381750"/>
            <a:ext cx="66675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100">
                <a:solidFill>
                  <a:srgbClr val="A08E6C"/>
                </a:solidFill>
                <a:latin typeface="Courier New"/>
                <a:ea typeface="Courier New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808F6E47-AA5C-4B50-9555-B3DADA5BBCB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66750" y="1714500"/>
            <a:ext cx="4095750" cy="478155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FB1043F4-0579-4644-B369-AE0718DD8D5B}"/>
              </a:ext>
            </a:extLst>
          </p:cNvPr>
          <p:cNvSpPr txBox="1"/>
          <p:nvPr/>
        </p:nvSpPr>
        <p:spPr>
          <a:xfrm>
            <a:off x="666750" y="49530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A8823A"/>
                </a:solidFill>
                <a:latin typeface="Courier New"/>
                <a:ea typeface="Courier New"/>
              </a:rPr>
              <a:t>LAW SCHOOL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C255238-8C28-43A1-AA2E-C82E373620AB}"/>
              </a:ext>
            </a:extLst>
          </p:cNvPr>
          <p:cNvSpPr txBox="1"/>
          <p:nvPr/>
        </p:nvSpPr>
        <p:spPr>
          <a:xfrm>
            <a:off x="666750" y="762000"/>
            <a:ext cx="10858500" cy="62865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241C12"/>
                </a:solidFill>
                <a:latin typeface="Georgia"/>
                <a:ea typeface="Georgia"/>
              </a:rPr>
              <a:t>Every case teaches the next one.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28404C6-2D6B-4CF3-85DD-41F27D4FC879}"/>
              </a:ext>
            </a:extLst>
          </p:cNvPr>
          <p:cNvSpPr txBox="1"/>
          <p:nvPr/>
        </p:nvSpPr>
        <p:spPr>
          <a:xfrm>
            <a:off x="5334000" y="1809750"/>
            <a:ext cx="619125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241C12"/>
                </a:solidFill>
                <a:latin typeface="Segoe UI"/>
                <a:ea typeface="Segoe UI"/>
              </a:rPr>
              <a:t>Scam types written up as case law, distilled from official guidance — then practised until they stick.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0EDD5DA-1DC5-473D-AF5D-5F3220F24B96}"/>
              </a:ext>
            </a:extLst>
          </p:cNvPr>
          <p:cNvSpPr txBox="1"/>
          <p:nvPr/>
        </p:nvSpPr>
        <p:spPr>
          <a:xfrm>
            <a:off x="5334000" y="2762250"/>
            <a:ext cx="6191250" cy="285750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18000"/>
              </a:lnSpc>
              <a:spcAft>
                <a:spcPts val="1200"/>
              </a:spcAft>
              <a:buChar char="•"/>
            </a:pPr>
            <a:r>
              <a:rPr sz="1350" b="1">
                <a:solidFill>
                  <a:srgbClr val="241C12"/>
                </a:solidFill>
                <a:latin typeface="Segoe UI"/>
                <a:ea typeface="Segoe UI"/>
              </a:rPr>
              <a:t>Case law</a:t>
            </a:r>
            <a:r>
              <a:rPr sz="1350">
                <a:solidFill>
                  <a:srgbClr val="6A5A44"/>
                </a:solidFill>
                <a:latin typeface="Segoe UI"/>
                <a:ea typeface="Segoe UI"/>
              </a:rPr>
              <a:t> — scam types written up as case law distilled from official guidance.</a:t>
            </a:r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Char char="•"/>
            </a:pPr>
            <a:r>
              <a:rPr sz="1350" b="1">
                <a:solidFill>
                  <a:srgbClr val="241C12"/>
                </a:solidFill>
                <a:latin typeface="Segoe UI"/>
                <a:ea typeface="Segoe UI"/>
              </a:rPr>
              <a:t>Daily Docket</a:t>
            </a:r>
            <a:r>
              <a:rPr sz="1350">
                <a:solidFill>
                  <a:srgbClr val="6A5A44"/>
                </a:solidFill>
                <a:latin typeface="Segoe UI"/>
                <a:ea typeface="Segoe UI"/>
              </a:rPr>
              <a:t> — one case to judge every day.</a:t>
            </a:r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Char char="•"/>
            </a:pPr>
            <a:r>
              <a:rPr sz="1350" b="1">
                <a:solidFill>
                  <a:srgbClr val="241C12"/>
                </a:solidFill>
                <a:latin typeface="Segoe UI"/>
                <a:ea typeface="Segoe UI"/>
              </a:rPr>
              <a:t>Drills</a:t>
            </a:r>
            <a:r>
              <a:rPr sz="1350">
                <a:solidFill>
                  <a:srgbClr val="6A5A44"/>
                </a:solidFill>
                <a:latin typeface="Segoe UI"/>
                <a:ea typeface="Segoe UI"/>
              </a:rPr>
              <a:t> — pattern-spotting practice between real cases.</a:t>
            </a:r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Char char="•"/>
            </a:pPr>
            <a:r>
              <a:rPr sz="1350" b="1">
                <a:solidFill>
                  <a:srgbClr val="241C12"/>
                </a:solidFill>
                <a:latin typeface="Segoe UI"/>
                <a:ea typeface="Segoe UI"/>
              </a:rPr>
              <a:t>Ranks</a:t>
            </a:r>
            <a:r>
              <a:rPr sz="1350">
                <a:solidFill>
                  <a:srgbClr val="6A5A44"/>
                </a:solidFill>
                <a:latin typeface="Segoe UI"/>
                <a:ea typeface="Segoe UI"/>
              </a:rPr>
              <a:t> — earned by judging real cases, not by reading about them.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4BF690F-B84A-4836-AAA4-7EFBC8F7F6A0}"/>
              </a:ext>
            </a:extLst>
          </p:cNvPr>
          <p:cNvSpPr txBox="1"/>
          <p:nvPr/>
        </p:nvSpPr>
        <p:spPr>
          <a:xfrm>
            <a:off x="5334000" y="5810250"/>
            <a:ext cx="61912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6A5A44"/>
                </a:solidFill>
                <a:latin typeface="Courier New"/>
                <a:ea typeface="Courier New"/>
              </a:rPr>
              <a:t>Awareness programmes lecture. GAVEL makes you practise.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26027C2-E209-4584-B093-DD2134F8CEED}"/>
              </a:ext>
            </a:extLst>
          </p:cNvPr>
          <p:cNvSpPr txBox="1"/>
          <p:nvPr/>
        </p:nvSpPr>
        <p:spPr>
          <a:xfrm>
            <a:off x="10953750" y="6381750"/>
            <a:ext cx="66675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100">
                <a:solidFill>
                  <a:srgbClr val="A08E6C"/>
                </a:solidFill>
                <a:latin typeface="Courier New"/>
                <a:ea typeface="Courier New"/>
              </a:rPr>
              <a:t>09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F761DAA1-A429-4B12-BBBB-C0E4725FCDAE}"/>
              </a:ext>
            </a:extLst>
          </p:cNvPr>
          <p:cNvSpPr/>
          <p:nvPr/>
        </p:nvSpPr>
        <p:spPr>
          <a:xfrm>
            <a:off x="666750" y="1809750"/>
            <a:ext cx="5219700" cy="4095750"/>
          </a:xfrm>
          <a:prstGeom prst="roundRect">
            <a:avLst/>
          </a:prstGeom>
          <a:solidFill>
            <a:srgbClr val="FAF4E4"/>
          </a:solidFill>
          <a:ln w="12700">
            <a:solidFill>
              <a:srgbClr val="DDCDA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A703B76-DF7B-4553-8A4C-05A4D28F6C9B}"/>
              </a:ext>
            </a:extLst>
          </p:cNvPr>
          <p:cNvSpPr/>
          <p:nvPr/>
        </p:nvSpPr>
        <p:spPr>
          <a:xfrm>
            <a:off x="6305550" y="1809750"/>
            <a:ext cx="5219700" cy="4095750"/>
          </a:xfrm>
          <a:prstGeom prst="roundRect">
            <a:avLst/>
          </a:prstGeom>
          <a:solidFill>
            <a:srgbClr val="FAF4E4"/>
          </a:solidFill>
          <a:ln w="12700">
            <a:solidFill>
              <a:srgbClr val="DDCDA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19F29DD-B243-496A-995C-D61F208CB5FD}"/>
              </a:ext>
            </a:extLst>
          </p:cNvPr>
          <p:cNvSpPr txBox="1"/>
          <p:nvPr/>
        </p:nvSpPr>
        <p:spPr>
          <a:xfrm>
            <a:off x="666750" y="49530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A8823A"/>
                </a:solidFill>
                <a:latin typeface="Courier New"/>
                <a:ea typeface="Courier New"/>
              </a:rPr>
              <a:t>THE HONEST RECORD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56C12C9-2057-40AC-9E93-71CF71506DB8}"/>
              </a:ext>
            </a:extLst>
          </p:cNvPr>
          <p:cNvSpPr txBox="1"/>
          <p:nvPr/>
        </p:nvSpPr>
        <p:spPr>
          <a:xfrm>
            <a:off x="666750" y="762000"/>
            <a:ext cx="10858500" cy="62865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241C12"/>
                </a:solidFill>
                <a:latin typeface="Georgia"/>
                <a:ea typeface="Georgia"/>
              </a:rPr>
              <a:t>What it cannot do — yet.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17522F6-FD2B-4566-92F0-45D595012E7F}"/>
              </a:ext>
            </a:extLst>
          </p:cNvPr>
          <p:cNvSpPr txBox="1"/>
          <p:nvPr/>
        </p:nvSpPr>
        <p:spPr>
          <a:xfrm>
            <a:off x="952500" y="2038350"/>
            <a:ext cx="46482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7C1D17"/>
                </a:solidFill>
                <a:latin typeface="Courier New"/>
                <a:ea typeface="Courier New"/>
              </a:rPr>
              <a:t>WHAT IT CANNOT DO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6F5B9CB-0FCD-4C49-9654-6F31D8EDEB26}"/>
              </a:ext>
            </a:extLst>
          </p:cNvPr>
          <p:cNvSpPr txBox="1"/>
          <p:nvPr/>
        </p:nvSpPr>
        <p:spPr>
          <a:xfrm>
            <a:off x="952500" y="2400300"/>
            <a:ext cx="4648200" cy="3238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50" b="1">
                <a:solidFill>
                  <a:srgbClr val="241C12"/>
                </a:solidFill>
                <a:latin typeface="Segoe UI"/>
                <a:ea typeface="Segoe UI"/>
              </a:rPr>
              <a:t>Text and language</a:t>
            </a:r>
            <a:r>
              <a:rPr sz="1250">
                <a:solidFill>
                  <a:srgbClr val="6A5A44"/>
                </a:solidFill>
                <a:latin typeface="Segoe UI"/>
                <a:ea typeface="Segoe UI"/>
              </a:rPr>
              <a:t> — the classifier is trained on English-labelled SMS corpora; local slang beyond that leans on pattern rules.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50" b="1">
                <a:solidFill>
                  <a:srgbClr val="241C12"/>
                </a:solidFill>
                <a:latin typeface="Segoe UI"/>
                <a:ea typeface="Segoe UI"/>
              </a:rPr>
              <a:t>Anatomy, not reputation</a:t>
            </a:r>
            <a:r>
              <a:rPr sz="1250">
                <a:solidFill>
                  <a:srgbClr val="6A5A44"/>
                </a:solidFill>
                <a:latin typeface="Segoe UI"/>
                <a:ea typeface="Segoe UI"/>
              </a:rPr>
              <a:t> — links are judged offline by structure; domain age and live lookups are not consulted.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50" b="1">
                <a:solidFill>
                  <a:srgbClr val="241C12"/>
                </a:solidFill>
                <a:latin typeface="Segoe UI"/>
                <a:ea typeface="Segoe UI"/>
              </a:rPr>
              <a:t>A compiled voice when offline</a:t>
            </a:r>
            <a:r>
              <a:rPr sz="1250">
                <a:solidFill>
                  <a:srgbClr val="6A5A44"/>
                </a:solidFill>
                <a:latin typeface="Segoe UI"/>
                <a:ea typeface="Segoe UI"/>
              </a:rPr>
              <a:t> — without a model service the speeches are assembled, not drafted. The trial completes; the prose is plainer.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50" b="1">
                <a:solidFill>
                  <a:srgbClr val="241C12"/>
                </a:solidFill>
                <a:latin typeface="Segoe UI"/>
                <a:ea typeface="Segoe UI"/>
              </a:rPr>
              <a:t>Advice, never action</a:t>
            </a:r>
            <a:r>
              <a:rPr sz="1250">
                <a:solidFill>
                  <a:srgbClr val="6A5A44"/>
                </a:solidFill>
                <a:latin typeface="Segoe UI"/>
                <a:ea typeface="Segoe UI"/>
              </a:rPr>
              <a:t> — GAVEL blocks nothing and contacts no one. The decision stays where it belongs.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4B92EF3-4CA4-46F6-8914-B90D3BD97C00}"/>
              </a:ext>
            </a:extLst>
          </p:cNvPr>
          <p:cNvSpPr txBox="1"/>
          <p:nvPr/>
        </p:nvSpPr>
        <p:spPr>
          <a:xfrm>
            <a:off x="6591300" y="2038350"/>
            <a:ext cx="46482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7C1D17"/>
                </a:solidFill>
                <a:latin typeface="Courier New"/>
                <a:ea typeface="Courier New"/>
              </a:rPr>
              <a:t>WHAT COMES NEXT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6C0BB6B-2BCF-4054-AB60-C6BBD4564790}"/>
              </a:ext>
            </a:extLst>
          </p:cNvPr>
          <p:cNvSpPr txBox="1"/>
          <p:nvPr/>
        </p:nvSpPr>
        <p:spPr>
          <a:xfrm>
            <a:off x="6591300" y="2400300"/>
            <a:ext cx="4648200" cy="3238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50" b="1">
                <a:solidFill>
                  <a:srgbClr val="241C12"/>
                </a:solidFill>
                <a:latin typeface="Segoe UI"/>
                <a:ea typeface="Segoe UI"/>
              </a:rPr>
              <a:t>A public-record check</a:t>
            </a:r>
            <a:r>
              <a:rPr sz="1250">
                <a:solidFill>
                  <a:srgbClr val="6A5A44"/>
                </a:solidFill>
                <a:latin typeface="Segoe UI"/>
                <a:ea typeface="Segoe UI"/>
              </a:rPr>
              <a:t> — domain and phone reputation, consulted with consent, filed as one more exhibit.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50" b="1">
                <a:solidFill>
                  <a:srgbClr val="241C12"/>
                </a:solidFill>
                <a:latin typeface="Segoe UI"/>
                <a:ea typeface="Segoe UI"/>
              </a:rPr>
              <a:t>More local voices</a:t>
            </a:r>
            <a:r>
              <a:rPr sz="1250">
                <a:solidFill>
                  <a:srgbClr val="6A5A44"/>
                </a:solidFill>
                <a:latin typeface="Segoe UI"/>
                <a:ea typeface="Segoe UI"/>
              </a:rPr>
              <a:t> — Bahasa Malaysia and regional scam corpora, contributed with consent.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50" b="1">
                <a:solidFill>
                  <a:srgbClr val="241C12"/>
                </a:solidFill>
                <a:latin typeface="Segoe UI"/>
                <a:ea typeface="Segoe UI"/>
              </a:rPr>
              <a:t>A deeper school</a:t>
            </a:r>
            <a:r>
              <a:rPr sz="1250">
                <a:solidFill>
                  <a:srgbClr val="6A5A44"/>
                </a:solidFill>
                <a:latin typeface="Segoe UI"/>
                <a:ea typeface="Segoe UI"/>
              </a:rPr>
              <a:t> — case law that grows from real verdicts.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F994416-19C2-469D-8CBF-8EAEE46A2AB7}"/>
              </a:ext>
            </a:extLst>
          </p:cNvPr>
          <p:cNvSpPr txBox="1"/>
          <p:nvPr/>
        </p:nvSpPr>
        <p:spPr>
          <a:xfrm>
            <a:off x="666750" y="6096000"/>
            <a:ext cx="10858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6A5A44"/>
                </a:solidFill>
                <a:latin typeface="Courier New"/>
                <a:ea typeface="Courier New"/>
              </a:rPr>
              <a:t>Limits are docketed, not hidden — uncertainty goes to a hung jury, never to a confident guess.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6367940-5E7A-4808-BBC3-C8C7D9C8E092}"/>
              </a:ext>
            </a:extLst>
          </p:cNvPr>
          <p:cNvSpPr txBox="1"/>
          <p:nvPr/>
        </p:nvSpPr>
        <p:spPr>
          <a:xfrm>
            <a:off x="10953750" y="6381750"/>
            <a:ext cx="66675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100">
                <a:solidFill>
                  <a:srgbClr val="A08E6C"/>
                </a:solidFill>
                <a:latin typeface="Courier New"/>
                <a:ea typeface="Courier New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6E1A41AD-975D-40F0-B81C-49D24BE0ED0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763000" y="1524000"/>
            <a:ext cx="2667000" cy="26670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B23A8F2E-9863-480B-8048-AE4FF5DEC9CB}"/>
              </a:ext>
            </a:extLst>
          </p:cNvPr>
          <p:cNvSpPr txBox="1"/>
          <p:nvPr/>
        </p:nvSpPr>
        <p:spPr>
          <a:xfrm>
            <a:off x="666750" y="49530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A8823A"/>
                </a:solidFill>
                <a:latin typeface="Courier New"/>
                <a:ea typeface="Courier New"/>
              </a:rPr>
              <a:t>LIVE DEMO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09EA177-2224-4251-9ED8-A2FD058C4FD1}"/>
              </a:ext>
            </a:extLst>
          </p:cNvPr>
          <p:cNvSpPr txBox="1"/>
          <p:nvPr/>
        </p:nvSpPr>
        <p:spPr>
          <a:xfrm>
            <a:off x="666750" y="762000"/>
            <a:ext cx="10477500" cy="62865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241C12"/>
                </a:solidFill>
                <a:latin typeface="Georgia"/>
                <a:ea typeface="Georgia"/>
              </a:rPr>
              <a:t>The courtroom is open.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3A30F7E-3E78-4B9F-AD29-9697E39D3307}"/>
              </a:ext>
            </a:extLst>
          </p:cNvPr>
          <p:cNvSpPr txBox="1"/>
          <p:nvPr/>
        </p:nvSpPr>
        <p:spPr>
          <a:xfrm>
            <a:off x="666750" y="2000250"/>
            <a:ext cx="5334000" cy="51435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7C1D17"/>
                </a:solidFill>
                <a:latin typeface="Courier New"/>
                <a:ea typeface="Courier New"/>
              </a:rPr>
              <a:t>gavel-liard.vercel.app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AD0A9D3-DE73-49C3-85F3-D42982CE2518}"/>
              </a:ext>
            </a:extLst>
          </p:cNvPr>
          <p:cNvSpPr txBox="1"/>
          <p:nvPr/>
        </p:nvSpPr>
        <p:spPr>
          <a:xfrm>
            <a:off x="666750" y="2952750"/>
            <a:ext cx="5334000" cy="2476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400" b="1">
                <a:solidFill>
                  <a:srgbClr val="241C12"/>
                </a:solidFill>
                <a:latin typeface="Segoe UI"/>
                <a:ea typeface="Segoe UI"/>
              </a:rPr>
              <a:t>Scan the code</a:t>
            </a:r>
            <a:r>
              <a:rPr sz="1400">
                <a:solidFill>
                  <a:srgbClr val="6A5A44"/>
                </a:solidFill>
                <a:latin typeface="Segoe UI"/>
                <a:ea typeface="Segoe UI"/>
              </a:rPr>
              <a:t>, or type the address. Nothing to install.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400" b="1">
                <a:solidFill>
                  <a:srgbClr val="241C12"/>
                </a:solidFill>
                <a:latin typeface="Segoe UI"/>
                <a:ea typeface="Segoe UI"/>
              </a:rPr>
              <a:t>Pick a case</a:t>
            </a:r>
            <a:r>
              <a:rPr sz="1400">
                <a:solidFill>
                  <a:srgbClr val="6A5A44"/>
                </a:solidFill>
                <a:latin typeface="Segoe UI"/>
                <a:ea typeface="Segoe UI"/>
              </a:rPr>
              <a:t> from the docket — or bring your own suspicious message.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400" b="1">
                <a:solidFill>
                  <a:srgbClr val="241C12"/>
                </a:solidFill>
                <a:latin typeface="Segoe UI"/>
                <a:ea typeface="Segoe UI"/>
              </a:rPr>
              <a:t>Judge it yourself</a:t>
            </a:r>
            <a:r>
              <a:rPr sz="1400">
                <a:solidFill>
                  <a:srgbClr val="6A5A44"/>
                </a:solidFill>
                <a:latin typeface="Segoe UI"/>
                <a:ea typeface="Segoe UI"/>
              </a:rPr>
              <a:t> — watch the reads, exhibits and speeches, then swing the gavel.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BC17686-2517-4854-93F0-A0EC50634B45}"/>
              </a:ext>
            </a:extLst>
          </p:cNvPr>
          <p:cNvSpPr txBox="1"/>
          <p:nvPr/>
        </p:nvSpPr>
        <p:spPr>
          <a:xfrm>
            <a:off x="666750" y="5810250"/>
            <a:ext cx="53340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1250">
                <a:solidFill>
                  <a:srgbClr val="6A5A44"/>
                </a:solidFill>
                <a:latin typeface="Courier New"/>
                <a:ea typeface="Courier New"/>
              </a:rPr>
              <a:t>Judging a case takes about a minute. The court remembers every one.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00561A7-8966-48B1-BC72-EC80C14E03A3}"/>
              </a:ext>
            </a:extLst>
          </p:cNvPr>
          <p:cNvSpPr txBox="1"/>
          <p:nvPr/>
        </p:nvSpPr>
        <p:spPr>
          <a:xfrm>
            <a:off x="8286750" y="4305300"/>
            <a:ext cx="36195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200">
                <a:solidFill>
                  <a:srgbClr val="A08E6C"/>
                </a:solidFill>
                <a:latin typeface="Courier New"/>
                <a:ea typeface="Courier New"/>
              </a:rPr>
              <a:t>Scan to open GAVEL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E7590E8-7D70-4694-AFAD-FD09130ECBE8}"/>
              </a:ext>
            </a:extLst>
          </p:cNvPr>
          <p:cNvSpPr txBox="1"/>
          <p:nvPr/>
        </p:nvSpPr>
        <p:spPr>
          <a:xfrm>
            <a:off x="10953750" y="6381750"/>
            <a:ext cx="66675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100">
                <a:solidFill>
                  <a:srgbClr val="A08E6C"/>
                </a:solidFill>
                <a:latin typeface="Courier New"/>
                <a:ea typeface="Courier New"/>
              </a:rPr>
              <a:t>12 / 12</a:t>
            </a:r>
          </a:p>
        </p:txBody>
      </p:sp>
      <p:pic>
        <p:nvPicPr>
          <p:cNvPr id="12" name="GAVEL-demo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854696" y="4553712"/>
            <a:ext cx="3337560" cy="18745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5">
            <a:extLst>
              <a:ext uri="{FF2B5EF4-FFF2-40B4-BE49-F238E27FC236}">
                <a16:creationId xmlns:a16="http://schemas.microsoft.com/office/drawing/2014/main" id="{519F29DD-B243-496A-995C-D61F208CB5FD}"/>
              </a:ext>
            </a:extLst>
          </p:cNvPr>
          <p:cNvSpPr txBox="1"/>
          <p:nvPr/>
        </p:nvSpPr>
        <p:spPr>
          <a:xfrm>
            <a:off x="666750" y="49530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A8823A"/>
                </a:solidFill>
                <a:latin typeface="Courier New"/>
                <a:ea typeface="Courier New"/>
              </a:rPr>
              <a:t>THE BUSINESS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756C12C9-2057-40AC-9E93-71CF71506DB8}"/>
              </a:ext>
            </a:extLst>
          </p:cNvPr>
          <p:cNvSpPr txBox="1"/>
          <p:nvPr/>
        </p:nvSpPr>
        <p:spPr>
          <a:xfrm>
            <a:off x="666750" y="762000"/>
            <a:ext cx="10858500" cy="62865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241C12"/>
                </a:solidFill>
                <a:latin typeface="Georgia"/>
                <a:ea typeface="Georgia"/>
              </a:rPr>
              <a:t>Who pays, and why it holds.</a:t>
            </a: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6F994416-19C2-469D-8CBF-8EAEE46A2AB7}"/>
              </a:ext>
            </a:extLst>
          </p:cNvPr>
          <p:cNvSpPr txBox="1"/>
          <p:nvPr/>
        </p:nvSpPr>
        <p:spPr>
          <a:xfrm>
            <a:off x="666750" y="6096000"/>
            <a:ext cx="10858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6A5A44"/>
                </a:solidFill>
                <a:latin typeface="Courier New"/>
                <a:ea typeface="Courier New"/>
              </a:rPr>
              <a:t>Trust is the moat — the product is auditable by the person who pays for it.</a:t>
            </a: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16367940-5E7A-4808-BBC3-C8C7D9C8E092}"/>
              </a:ext>
            </a:extLst>
          </p:cNvPr>
          <p:cNvSpPr txBox="1"/>
          <p:nvPr/>
        </p:nvSpPr>
        <p:spPr>
          <a:xfrm>
            <a:off x="10953750" y="6381750"/>
            <a:ext cx="66675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100">
                <a:solidFill>
                  <a:srgbClr val="A08E6C"/>
                </a:solidFill>
                <a:latin typeface="Courier New"/>
                <a:ea typeface="Courier New"/>
              </a:rPr>
              <a:t>10 / 12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761DAA1-A429-4B12-BBBB-C0E4725FCDAE}"/>
              </a:ext>
            </a:extLst>
          </p:cNvPr>
          <p:cNvSpPr/>
          <p:nvPr/>
        </p:nvSpPr>
        <p:spPr>
          <a:xfrm>
            <a:off x="667512" y="1810512"/>
            <a:ext cx="3474720" cy="4096512"/>
          </a:xfrm>
          <a:prstGeom prst="roundRect">
            <a:avLst/>
          </a:prstGeom>
          <a:solidFill>
            <a:srgbClr val="FAF4E4"/>
          </a:solidFill>
          <a:ln w="12700">
            <a:solidFill>
              <a:srgbClr val="DDCDA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17522F6-FD2B-4566-92F0-45D595012E7F}"/>
              </a:ext>
            </a:extLst>
          </p:cNvPr>
          <p:cNvSpPr txBox="1"/>
          <p:nvPr/>
        </p:nvSpPr>
        <p:spPr>
          <a:xfrm>
            <a:off x="950976" y="2039112"/>
            <a:ext cx="2907792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7C1D17"/>
                </a:solidFill>
                <a:latin typeface="Courier New"/>
                <a:ea typeface="Courier New"/>
              </a:rPr>
              <a:t>WHO PAYS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6F5B9CB-0FCD-4C49-9654-6F31D8EDEB26}"/>
              </a:ext>
            </a:extLst>
          </p:cNvPr>
          <p:cNvSpPr txBox="1"/>
          <p:nvPr/>
        </p:nvSpPr>
        <p:spPr>
          <a:xfrm>
            <a:off x="950976" y="2395728"/>
            <a:ext cx="2907792" cy="323697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50" b="0">
                <a:solidFill>
                  <a:srgbClr val="6A5A44"/>
                </a:solidFill>
                <a:latin typeface="Segoe UI"/>
                <a:ea typeface="Segoe UI"/>
              </a:rPr>
              <a:t>The family buyer — the person who forwards the parcel SMS to the group chat — at RM4.90 a month. And the bank, telco or e-wallet that would rather prevent a transfer than reverse one.</a:t>
            </a: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F761DAA1-A429-4B12-BBBB-C0E4725FCDAE}"/>
              </a:ext>
            </a:extLst>
          </p:cNvPr>
          <p:cNvSpPr/>
          <p:nvPr/>
        </p:nvSpPr>
        <p:spPr>
          <a:xfrm>
            <a:off x="4361688" y="1810512"/>
            <a:ext cx="3474720" cy="4096512"/>
          </a:xfrm>
          <a:prstGeom prst="roundRect">
            <a:avLst/>
          </a:prstGeom>
          <a:solidFill>
            <a:srgbClr val="FAF4E4"/>
          </a:solidFill>
          <a:ln w="12700">
            <a:solidFill>
              <a:srgbClr val="DDCDA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317522F6-FD2B-4566-92F0-45D595012E7F}"/>
              </a:ext>
            </a:extLst>
          </p:cNvPr>
          <p:cNvSpPr txBox="1"/>
          <p:nvPr/>
        </p:nvSpPr>
        <p:spPr>
          <a:xfrm>
            <a:off x="4645151" y="2039112"/>
            <a:ext cx="2907792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7C1D17"/>
                </a:solidFill>
                <a:latin typeface="Courier New"/>
                <a:ea typeface="Courier New"/>
              </a:rPr>
              <a:t>MARKET · BOTTOM-UP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56F5B9CB-0FCD-4C49-9654-6F31D8EDEB26}"/>
              </a:ext>
            </a:extLst>
          </p:cNvPr>
          <p:cNvSpPr txBox="1"/>
          <p:nvPr/>
        </p:nvSpPr>
        <p:spPr>
          <a:xfrm>
            <a:off x="4645151" y="2395728"/>
            <a:ext cx="2907792" cy="323697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50" b="0">
                <a:solidFill>
                  <a:srgbClr val="6A5A44"/>
                </a:solidFill>
                <a:latin typeface="Segoe UI"/>
                <a:ea typeface="Segoe UI"/>
              </a:rPr>
              <a:t>8.0M Malaysian households × RM4.90/month ≈ RM470M/year consumer TAM. 27 banks, 5 telcos, 10 e-wallets × a RM250k pilot ≈ RM10M/year initial institutional segment. Assumptions, not forecasts.</a:t>
            </a: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F761DAA1-A429-4B12-BBBB-C0E4725FCDAE}"/>
              </a:ext>
            </a:extLst>
          </p:cNvPr>
          <p:cNvSpPr/>
          <p:nvPr/>
        </p:nvSpPr>
        <p:spPr>
          <a:xfrm>
            <a:off x="8055864" y="1810512"/>
            <a:ext cx="3474720" cy="4096512"/>
          </a:xfrm>
          <a:prstGeom prst="roundRect">
            <a:avLst/>
          </a:prstGeom>
          <a:solidFill>
            <a:srgbClr val="FAF4E4"/>
          </a:solidFill>
          <a:ln w="12700">
            <a:solidFill>
              <a:srgbClr val="DDCDA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317522F6-FD2B-4566-92F0-45D595012E7F}"/>
              </a:ext>
            </a:extLst>
          </p:cNvPr>
          <p:cNvSpPr txBox="1"/>
          <p:nvPr/>
        </p:nvSpPr>
        <p:spPr>
          <a:xfrm>
            <a:off x="8339328" y="2039112"/>
            <a:ext cx="2907792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7C1D17"/>
                </a:solidFill>
                <a:latin typeface="Courier New"/>
                <a:ea typeface="Courier New"/>
              </a:rPr>
              <a:t>MODEL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6F5B9CB-0FCD-4C49-9654-6F31D8EDEB26}"/>
              </a:ext>
            </a:extLst>
          </p:cNvPr>
          <p:cNvSpPr txBox="1"/>
          <p:nvPr/>
        </p:nvSpPr>
        <p:spPr>
          <a:xfrm>
            <a:off x="8339328" y="2395728"/>
            <a:ext cx="2907792" cy="323697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250" b="0">
                <a:solidFill>
                  <a:srgbClr val="6A5A44"/>
                </a:solidFill>
                <a:latin typeface="Segoe UI"/>
                <a:ea typeface="Segoe UI"/>
              </a:rPr>
              <a:t>Free single cases. A RM4.90/month family plan. White-label licence and per-case API for institutions. Local-first forensics keep marginal cost near zero: we pay for tokens only when the court speaks.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